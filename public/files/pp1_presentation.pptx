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83" r:id="rId2"/>
    <p:sldId id="284" r:id="rId3"/>
    <p:sldId id="278" r:id="rId4"/>
    <p:sldId id="279" r:id="rId5"/>
    <p:sldId id="280" r:id="rId6"/>
    <p:sldId id="281" r:id="rId7"/>
    <p:sldId id="282" r:id="rId8"/>
    <p:sldId id="270" r:id="rId9"/>
    <p:sldId id="271" r:id="rId10"/>
    <p:sldId id="272" r:id="rId11"/>
    <p:sldId id="267" r:id="rId12"/>
    <p:sldId id="257" r:id="rId13"/>
    <p:sldId id="258" r:id="rId14"/>
    <p:sldId id="266" r:id="rId15"/>
    <p:sldId id="273" r:id="rId16"/>
    <p:sldId id="274" r:id="rId17"/>
    <p:sldId id="275" r:id="rId18"/>
    <p:sldId id="276" r:id="rId19"/>
    <p:sldId id="268" r:id="rId20"/>
    <p:sldId id="269" r:id="rId21"/>
    <p:sldId id="277" r:id="rId22"/>
  </p:sldIdLst>
  <p:sldSz cx="18288000" cy="10287000"/>
  <p:notesSz cx="6858000" cy="9144000"/>
  <p:embeddedFontLst>
    <p:embeddedFont>
      <p:font typeface="Poppins" panose="00000500000000000000" pitchFamily="2" charset="0"/>
      <p:regular r:id="rId23"/>
      <p:bold r:id="rId24"/>
      <p:italic r:id="rId25"/>
      <p:boldItalic r:id="rId26"/>
    </p:embeddedFont>
    <p:embeddedFont>
      <p:font typeface="Poppins Light" panose="00000400000000000000" pitchFamily="2" charset="0"/>
      <p:regular r:id="rId27"/>
      <p:italic r:id="rId28"/>
    </p:embeddedFont>
    <p:embeddedFont>
      <p:font typeface="Poppins Medium" panose="00000600000000000000" pitchFamily="2" charset="0"/>
      <p:regular r:id="rId29"/>
      <p:italic r:id="rId30"/>
    </p:embeddedFont>
    <p:embeddedFont>
      <p:font typeface="Poppins Semi-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C9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59" d="100"/>
          <a:sy n="59" d="100"/>
        </p:scale>
        <p:origin x="845" y="1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5.jpg"/><Relationship Id="rId4" Type="http://schemas.openxmlformats.org/officeDocument/2006/relationships/image" Target="../media/image3.sv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6.png"/><Relationship Id="rId5" Type="http://schemas.openxmlformats.org/officeDocument/2006/relationships/image" Target="../media/image9.png"/><Relationship Id="rId10" Type="http://schemas.openxmlformats.org/officeDocument/2006/relationships/image" Target="../media/image19.svg"/><Relationship Id="rId4" Type="http://schemas.openxmlformats.org/officeDocument/2006/relationships/image" Target="../media/image3.sv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1.jp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svg"/><Relationship Id="rId7" Type="http://schemas.openxmlformats.org/officeDocument/2006/relationships/image" Target="../media/image1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5.svg"/><Relationship Id="rId7"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6.png"/><Relationship Id="rId4" Type="http://schemas.openxmlformats.org/officeDocument/2006/relationships/image" Target="../media/image24.pn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22E9-448F-C660-6D8E-23CCFFAFFC0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166C89-BB31-0F9E-B57E-FB1E8FEE8CDE}"/>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a:p>
        </p:txBody>
      </p:sp>
      <p:grpSp>
        <p:nvGrpSpPr>
          <p:cNvPr id="3" name="Group 3">
            <a:extLst>
              <a:ext uri="{FF2B5EF4-FFF2-40B4-BE49-F238E27FC236}">
                <a16:creationId xmlns:a16="http://schemas.microsoft.com/office/drawing/2014/main" id="{AA23265D-1831-F578-A619-953E50BE0674}"/>
              </a:ext>
            </a:extLst>
          </p:cNvPr>
          <p:cNvGrpSpPr/>
          <p:nvPr/>
        </p:nvGrpSpPr>
        <p:grpSpPr>
          <a:xfrm>
            <a:off x="-31955" y="-28268"/>
            <a:ext cx="16496626" cy="10287000"/>
            <a:chOff x="0" y="0"/>
            <a:chExt cx="4344790" cy="2709333"/>
          </a:xfrm>
        </p:grpSpPr>
        <p:sp>
          <p:nvSpPr>
            <p:cNvPr id="4" name="Freeform 4">
              <a:extLst>
                <a:ext uri="{FF2B5EF4-FFF2-40B4-BE49-F238E27FC236}">
                  <a16:creationId xmlns:a16="http://schemas.microsoft.com/office/drawing/2014/main" id="{91C2F332-42E7-839F-9EC9-417668E07DA2}"/>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a:p>
          </p:txBody>
        </p:sp>
        <p:sp>
          <p:nvSpPr>
            <p:cNvPr id="5" name="TextBox 5">
              <a:extLst>
                <a:ext uri="{FF2B5EF4-FFF2-40B4-BE49-F238E27FC236}">
                  <a16:creationId xmlns:a16="http://schemas.microsoft.com/office/drawing/2014/main" id="{96554B48-BF0F-91C5-0DE1-A9C038D07D0E}"/>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8BD77BFC-932A-D950-EF7B-B79418EB780A}"/>
              </a:ext>
            </a:extLst>
          </p:cNvPr>
          <p:cNvSpPr/>
          <p:nvPr/>
        </p:nvSpPr>
        <p:spPr>
          <a:xfrm rot="-5931620" flipH="1">
            <a:off x="5415661" y="-4946745"/>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ABD33239-CB7D-6110-E9B1-2E67949180EC}"/>
              </a:ext>
            </a:extLst>
          </p:cNvPr>
          <p:cNvSpPr/>
          <p:nvPr/>
        </p:nvSpPr>
        <p:spPr>
          <a:xfrm rot="8510065" flipH="1" flipV="1">
            <a:off x="-220504" y="65413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2DF6EFEA-8B9F-B55D-89BC-0717EE0BDA2E}"/>
              </a:ext>
            </a:extLst>
          </p:cNvPr>
          <p:cNvSpPr/>
          <p:nvPr/>
        </p:nvSpPr>
        <p:spPr>
          <a:xfrm rot="-823344">
            <a:off x="8558149" y="2490447"/>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5AB59C3B-55A4-ABB8-2997-2F0870A86EB1}"/>
              </a:ext>
            </a:extLst>
          </p:cNvPr>
          <p:cNvGrpSpPr/>
          <p:nvPr/>
        </p:nvGrpSpPr>
        <p:grpSpPr>
          <a:xfrm>
            <a:off x="613530" y="5735477"/>
            <a:ext cx="300229" cy="300229"/>
            <a:chOff x="0" y="0"/>
            <a:chExt cx="812800" cy="812800"/>
          </a:xfrm>
        </p:grpSpPr>
        <p:sp>
          <p:nvSpPr>
            <p:cNvPr id="11" name="Freeform 11">
              <a:extLst>
                <a:ext uri="{FF2B5EF4-FFF2-40B4-BE49-F238E27FC236}">
                  <a16:creationId xmlns:a16="http://schemas.microsoft.com/office/drawing/2014/main" id="{95F32EE7-FC5D-4E5D-055B-D184056883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A8E559D3-2AED-AF71-5706-E34A0B73940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a:extLst>
              <a:ext uri="{FF2B5EF4-FFF2-40B4-BE49-F238E27FC236}">
                <a16:creationId xmlns:a16="http://schemas.microsoft.com/office/drawing/2014/main" id="{3D392335-28CE-1975-12E7-AE5BDF6200B0}"/>
              </a:ext>
            </a:extLst>
          </p:cNvPr>
          <p:cNvGrpSpPr/>
          <p:nvPr/>
        </p:nvGrpSpPr>
        <p:grpSpPr>
          <a:xfrm>
            <a:off x="8057810" y="8094092"/>
            <a:ext cx="474357" cy="474357"/>
            <a:chOff x="0" y="0"/>
            <a:chExt cx="812800" cy="812800"/>
          </a:xfrm>
        </p:grpSpPr>
        <p:sp>
          <p:nvSpPr>
            <p:cNvPr id="14" name="Freeform 14">
              <a:extLst>
                <a:ext uri="{FF2B5EF4-FFF2-40B4-BE49-F238E27FC236}">
                  <a16:creationId xmlns:a16="http://schemas.microsoft.com/office/drawing/2014/main" id="{7196C455-178B-FB3A-ECFF-780DA37227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5" name="TextBox 15">
              <a:extLst>
                <a:ext uri="{FF2B5EF4-FFF2-40B4-BE49-F238E27FC236}">
                  <a16:creationId xmlns:a16="http://schemas.microsoft.com/office/drawing/2014/main" id="{12AB0977-F724-112B-F26B-9F3047037E3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A95C7900-5A2E-597E-0D66-874C57E1708B}"/>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BE96AB25-82F3-5D77-29FC-69CFE8FA7E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94E55EB8-1F3D-47FA-9EF3-DAFD118387F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7" name="TextBox 27">
            <a:extLst>
              <a:ext uri="{FF2B5EF4-FFF2-40B4-BE49-F238E27FC236}">
                <a16:creationId xmlns:a16="http://schemas.microsoft.com/office/drawing/2014/main" id="{F99DC698-D022-6F72-7499-53DDA495E6CA}"/>
              </a:ext>
            </a:extLst>
          </p:cNvPr>
          <p:cNvSpPr txBox="1"/>
          <p:nvPr/>
        </p:nvSpPr>
        <p:spPr>
          <a:xfrm>
            <a:off x="1463530" y="4454915"/>
            <a:ext cx="15612577" cy="615553"/>
          </a:xfrm>
          <a:prstGeom prst="rect">
            <a:avLst/>
          </a:prstGeom>
        </p:spPr>
        <p:txBody>
          <a:bodyPr wrap="square" lIns="0" tIns="0" rIns="0" bIns="0" rtlCol="0" anchor="t">
            <a:spAutoFit/>
          </a:bodyPr>
          <a:lstStyle/>
          <a:p>
            <a:r>
              <a:rPr lang="en-US" sz="4000" b="1" dirty="0"/>
              <a:t>AI-Driven-hypertension and Diabetes-prevention-and-wellness-app</a:t>
            </a:r>
          </a:p>
        </p:txBody>
      </p:sp>
      <p:sp>
        <p:nvSpPr>
          <p:cNvPr id="30" name="TextBox 29">
            <a:extLst>
              <a:ext uri="{FF2B5EF4-FFF2-40B4-BE49-F238E27FC236}">
                <a16:creationId xmlns:a16="http://schemas.microsoft.com/office/drawing/2014/main" id="{73D9EDF8-D21D-437E-AFB6-3053229095E4}"/>
              </a:ext>
            </a:extLst>
          </p:cNvPr>
          <p:cNvSpPr txBox="1"/>
          <p:nvPr/>
        </p:nvSpPr>
        <p:spPr>
          <a:xfrm>
            <a:off x="1463530" y="7536920"/>
            <a:ext cx="10250128" cy="827919"/>
          </a:xfrm>
          <a:prstGeom prst="rect">
            <a:avLst/>
          </a:prstGeom>
          <a:noFill/>
        </p:spPr>
        <p:txBody>
          <a:bodyPr wrap="square">
            <a:spAutoFit/>
          </a:bodyPr>
          <a:lstStyle/>
          <a:p>
            <a:pPr>
              <a:lnSpc>
                <a:spcPct val="130008"/>
              </a:lnSpc>
            </a:pPr>
            <a:r>
              <a:rPr lang="en-US" sz="4000" dirty="0">
                <a:solidFill>
                  <a:srgbClr val="242424"/>
                </a:solidFill>
                <a:latin typeface="+mj-lt"/>
                <a:ea typeface="Arial"/>
                <a:cs typeface="Arial"/>
                <a:sym typeface="Arial"/>
              </a:rPr>
              <a:t>Specialization: Information Technology</a:t>
            </a:r>
            <a:endParaRPr lang="en-US" sz="4000" dirty="0">
              <a:latin typeface="+mj-lt"/>
            </a:endParaRPr>
          </a:p>
        </p:txBody>
      </p:sp>
      <p:grpSp>
        <p:nvGrpSpPr>
          <p:cNvPr id="8" name="Group 7">
            <a:extLst>
              <a:ext uri="{FF2B5EF4-FFF2-40B4-BE49-F238E27FC236}">
                <a16:creationId xmlns:a16="http://schemas.microsoft.com/office/drawing/2014/main" id="{1D6CCF72-5C89-428A-1F13-B0852A03605F}"/>
              </a:ext>
            </a:extLst>
          </p:cNvPr>
          <p:cNvGrpSpPr/>
          <p:nvPr/>
        </p:nvGrpSpPr>
        <p:grpSpPr>
          <a:xfrm>
            <a:off x="15240" y="9480549"/>
            <a:ext cx="3666038" cy="811179"/>
            <a:chOff x="0" y="0"/>
            <a:chExt cx="1025531" cy="226918"/>
          </a:xfrm>
        </p:grpSpPr>
        <p:sp>
          <p:nvSpPr>
            <p:cNvPr id="16" name="Freeform 13">
              <a:extLst>
                <a:ext uri="{FF2B5EF4-FFF2-40B4-BE49-F238E27FC236}">
                  <a16:creationId xmlns:a16="http://schemas.microsoft.com/office/drawing/2014/main" id="{BDD999B0-067C-250A-7AF9-256FC5B32FAE}"/>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7"/>
              <a:stretch>
                <a:fillRect l="-921" r="-921"/>
              </a:stretch>
            </a:blipFill>
          </p:spPr>
          <p:txBody>
            <a:bodyPr/>
            <a:lstStyle/>
            <a:p>
              <a:endParaRPr lang="en-US"/>
            </a:p>
          </p:txBody>
        </p:sp>
      </p:grpSp>
    </p:spTree>
    <p:extLst>
      <p:ext uri="{BB962C8B-B14F-4D97-AF65-F5344CB8AC3E}">
        <p14:creationId xmlns:p14="http://schemas.microsoft.com/office/powerpoint/2010/main" val="1751689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4037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ADBC-F3DE-710E-2209-6BCCF5105B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C088C5-3E42-B3D6-C3A9-7ED86FD1224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a:p>
        </p:txBody>
      </p:sp>
      <p:grpSp>
        <p:nvGrpSpPr>
          <p:cNvPr id="3" name="Group 3">
            <a:extLst>
              <a:ext uri="{FF2B5EF4-FFF2-40B4-BE49-F238E27FC236}">
                <a16:creationId xmlns:a16="http://schemas.microsoft.com/office/drawing/2014/main" id="{B20CFC20-8D0D-1467-4678-3C75D10B3446}"/>
              </a:ext>
            </a:extLst>
          </p:cNvPr>
          <p:cNvGrpSpPr/>
          <p:nvPr/>
        </p:nvGrpSpPr>
        <p:grpSpPr>
          <a:xfrm>
            <a:off x="-31955" y="-28268"/>
            <a:ext cx="16496626" cy="10287000"/>
            <a:chOff x="0" y="0"/>
            <a:chExt cx="4344790" cy="2709333"/>
          </a:xfrm>
        </p:grpSpPr>
        <p:sp>
          <p:nvSpPr>
            <p:cNvPr id="4" name="Freeform 4">
              <a:extLst>
                <a:ext uri="{FF2B5EF4-FFF2-40B4-BE49-F238E27FC236}">
                  <a16:creationId xmlns:a16="http://schemas.microsoft.com/office/drawing/2014/main" id="{96A687B8-09BC-D60F-B5AF-68A6A95FD74C}"/>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a:p>
          </p:txBody>
        </p:sp>
        <p:sp>
          <p:nvSpPr>
            <p:cNvPr id="5" name="TextBox 5">
              <a:extLst>
                <a:ext uri="{FF2B5EF4-FFF2-40B4-BE49-F238E27FC236}">
                  <a16:creationId xmlns:a16="http://schemas.microsoft.com/office/drawing/2014/main" id="{7086CC52-2EE3-5A50-E288-1DA42159C2FB}"/>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984DDA61-FEFF-B336-1658-9945B599A9A6}"/>
              </a:ext>
            </a:extLst>
          </p:cNvPr>
          <p:cNvSpPr/>
          <p:nvPr/>
        </p:nvSpPr>
        <p:spPr>
          <a:xfrm rot="-5931620" flipH="1">
            <a:off x="5415661" y="-4946745"/>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DF1E7E55-918F-EF81-9A1D-2FC80C6ED611}"/>
              </a:ext>
            </a:extLst>
          </p:cNvPr>
          <p:cNvSpPr/>
          <p:nvPr/>
        </p:nvSpPr>
        <p:spPr>
          <a:xfrm rot="8510065" flipH="1" flipV="1">
            <a:off x="-220504" y="65413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4EE10277-7F8F-6600-F5FC-00599069A69D}"/>
              </a:ext>
            </a:extLst>
          </p:cNvPr>
          <p:cNvSpPr/>
          <p:nvPr/>
        </p:nvSpPr>
        <p:spPr>
          <a:xfrm rot="-823344">
            <a:off x="8558149" y="2490447"/>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111C2AA6-AD0D-30FC-94BE-ABAD51FBF770}"/>
              </a:ext>
            </a:extLst>
          </p:cNvPr>
          <p:cNvGrpSpPr/>
          <p:nvPr/>
        </p:nvGrpSpPr>
        <p:grpSpPr>
          <a:xfrm>
            <a:off x="613530" y="5735477"/>
            <a:ext cx="300229" cy="300229"/>
            <a:chOff x="0" y="0"/>
            <a:chExt cx="812800" cy="812800"/>
          </a:xfrm>
        </p:grpSpPr>
        <p:sp>
          <p:nvSpPr>
            <p:cNvPr id="11" name="Freeform 11">
              <a:extLst>
                <a:ext uri="{FF2B5EF4-FFF2-40B4-BE49-F238E27FC236}">
                  <a16:creationId xmlns:a16="http://schemas.microsoft.com/office/drawing/2014/main" id="{A3FF24B5-2D8D-8D75-FF78-8666CD7498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7A1D0DA2-8685-B0EF-DFA7-D98C43C92CE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a:extLst>
              <a:ext uri="{FF2B5EF4-FFF2-40B4-BE49-F238E27FC236}">
                <a16:creationId xmlns:a16="http://schemas.microsoft.com/office/drawing/2014/main" id="{E2EB7233-606A-5534-D316-0909D0C1666E}"/>
              </a:ext>
            </a:extLst>
          </p:cNvPr>
          <p:cNvGrpSpPr/>
          <p:nvPr/>
        </p:nvGrpSpPr>
        <p:grpSpPr>
          <a:xfrm>
            <a:off x="8057810" y="8094092"/>
            <a:ext cx="474357" cy="474357"/>
            <a:chOff x="0" y="0"/>
            <a:chExt cx="812800" cy="812800"/>
          </a:xfrm>
        </p:grpSpPr>
        <p:sp>
          <p:nvSpPr>
            <p:cNvPr id="14" name="Freeform 14">
              <a:extLst>
                <a:ext uri="{FF2B5EF4-FFF2-40B4-BE49-F238E27FC236}">
                  <a16:creationId xmlns:a16="http://schemas.microsoft.com/office/drawing/2014/main" id="{72D67BB5-5E3B-DC8B-3796-6EB76FEA06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5" name="TextBox 15">
              <a:extLst>
                <a:ext uri="{FF2B5EF4-FFF2-40B4-BE49-F238E27FC236}">
                  <a16:creationId xmlns:a16="http://schemas.microsoft.com/office/drawing/2014/main" id="{2A417E9F-994E-2CCD-E3E9-13426D99E4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BA9D2041-81AB-01E6-E1A5-5ECD7CEE4386}"/>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5E6FBDDE-7C3A-458C-2244-E761FDB488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B9A44279-0FE6-9324-4E5B-665B02DE93E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2" name="TextBox 22">
            <a:extLst>
              <a:ext uri="{FF2B5EF4-FFF2-40B4-BE49-F238E27FC236}">
                <a16:creationId xmlns:a16="http://schemas.microsoft.com/office/drawing/2014/main" id="{A2130644-6977-EFFF-B54F-722A313DB000}"/>
              </a:ext>
            </a:extLst>
          </p:cNvPr>
          <p:cNvSpPr txBox="1"/>
          <p:nvPr/>
        </p:nvSpPr>
        <p:spPr>
          <a:xfrm>
            <a:off x="1389458" y="5116423"/>
            <a:ext cx="11429530" cy="769441"/>
          </a:xfrm>
          <a:prstGeom prst="rect">
            <a:avLst/>
          </a:prstGeom>
        </p:spPr>
        <p:txBody>
          <a:bodyPr wrap="square" lIns="0" tIns="0" rIns="0" bIns="0" rtlCol="0" anchor="t">
            <a:spAutoFit/>
          </a:bodyPr>
          <a:lstStyle/>
          <a:p>
            <a:r>
              <a:rPr lang="en-US" sz="5000" b="1" dirty="0">
                <a:latin typeface="Poppins Light" panose="00000400000000000000" pitchFamily="2" charset="0"/>
                <a:cs typeface="Poppins Light" panose="00000400000000000000" pitchFamily="2" charset="0"/>
              </a:rPr>
              <a:t>IT22178886 | Rathnayaka L.P.N.K.</a:t>
            </a:r>
          </a:p>
        </p:txBody>
      </p:sp>
      <p:sp>
        <p:nvSpPr>
          <p:cNvPr id="27" name="TextBox 27">
            <a:extLst>
              <a:ext uri="{FF2B5EF4-FFF2-40B4-BE49-F238E27FC236}">
                <a16:creationId xmlns:a16="http://schemas.microsoft.com/office/drawing/2014/main" id="{D283A7EB-84B2-CB77-C61D-9A28B6EAE200}"/>
              </a:ext>
            </a:extLst>
          </p:cNvPr>
          <p:cNvSpPr txBox="1"/>
          <p:nvPr/>
        </p:nvSpPr>
        <p:spPr>
          <a:xfrm>
            <a:off x="1384542" y="6369434"/>
            <a:ext cx="15612577" cy="1231106"/>
          </a:xfrm>
          <a:prstGeom prst="rect">
            <a:avLst/>
          </a:prstGeom>
        </p:spPr>
        <p:txBody>
          <a:bodyPr wrap="square" lIns="0" tIns="0" rIns="0" bIns="0" rtlCol="0" anchor="t">
            <a:spAutoFit/>
          </a:bodyPr>
          <a:lstStyle/>
          <a:p>
            <a:pPr>
              <a:spcBef>
                <a:spcPct val="0"/>
              </a:spcBef>
            </a:pPr>
            <a:r>
              <a:rPr lang="en-US" sz="4000" b="1" dirty="0"/>
              <a:t>AI-Driven Early Hypertension Risk Prediction and Personalized Recommendation System</a:t>
            </a:r>
            <a:endParaRPr lang="en-US" sz="4000" b="1" dirty="0">
              <a:solidFill>
                <a:srgbClr val="FFFFFF"/>
              </a:solidFill>
              <a:latin typeface="Poppins"/>
              <a:ea typeface="Poppins"/>
              <a:cs typeface="Poppins"/>
              <a:sym typeface="Poppins"/>
            </a:endParaRPr>
          </a:p>
        </p:txBody>
      </p:sp>
      <p:sp>
        <p:nvSpPr>
          <p:cNvPr id="30" name="TextBox 29">
            <a:extLst>
              <a:ext uri="{FF2B5EF4-FFF2-40B4-BE49-F238E27FC236}">
                <a16:creationId xmlns:a16="http://schemas.microsoft.com/office/drawing/2014/main" id="{575ADF43-E2E2-09F2-011F-80CE50BDF49F}"/>
              </a:ext>
            </a:extLst>
          </p:cNvPr>
          <p:cNvSpPr txBox="1"/>
          <p:nvPr/>
        </p:nvSpPr>
        <p:spPr>
          <a:xfrm>
            <a:off x="1265326" y="7917310"/>
            <a:ext cx="10250128" cy="827919"/>
          </a:xfrm>
          <a:prstGeom prst="rect">
            <a:avLst/>
          </a:prstGeom>
          <a:noFill/>
        </p:spPr>
        <p:txBody>
          <a:bodyPr wrap="square">
            <a:spAutoFit/>
          </a:bodyPr>
          <a:lstStyle/>
          <a:p>
            <a:pPr>
              <a:lnSpc>
                <a:spcPct val="130008"/>
              </a:lnSpc>
            </a:pPr>
            <a:r>
              <a:rPr lang="en-US" sz="4000" dirty="0">
                <a:solidFill>
                  <a:srgbClr val="242424"/>
                </a:solidFill>
                <a:latin typeface="+mj-lt"/>
                <a:ea typeface="Arial"/>
                <a:cs typeface="Arial"/>
                <a:sym typeface="Arial"/>
              </a:rPr>
              <a:t>Specialization: Information Technology</a:t>
            </a:r>
            <a:endParaRPr lang="en-US" sz="4000" dirty="0">
              <a:latin typeface="+mj-lt"/>
            </a:endParaRPr>
          </a:p>
        </p:txBody>
      </p:sp>
      <p:pic>
        <p:nvPicPr>
          <p:cNvPr id="17" name="Picture 16">
            <a:extLst>
              <a:ext uri="{FF2B5EF4-FFF2-40B4-BE49-F238E27FC236}">
                <a16:creationId xmlns:a16="http://schemas.microsoft.com/office/drawing/2014/main" id="{8271D014-5CC4-E8BE-5EB3-36173E1105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580555" y="733986"/>
            <a:ext cx="3430543" cy="4409513"/>
          </a:xfrm>
          <a:prstGeom prst="rect">
            <a:avLst/>
          </a:prstGeom>
          <a:ln w="9525" cap="sq" cmpd="thickThin">
            <a:solidFill>
              <a:srgbClr val="000000"/>
            </a:solidFill>
            <a:prstDash val="solid"/>
            <a:miter lim="800000"/>
          </a:ln>
          <a:effectLst>
            <a:innerShdw blurRad="76200">
              <a:srgbClr val="000000"/>
            </a:innerShdw>
          </a:effectLst>
        </p:spPr>
      </p:pic>
      <p:grpSp>
        <p:nvGrpSpPr>
          <p:cNvPr id="8" name="Group 7">
            <a:extLst>
              <a:ext uri="{FF2B5EF4-FFF2-40B4-BE49-F238E27FC236}">
                <a16:creationId xmlns:a16="http://schemas.microsoft.com/office/drawing/2014/main" id="{EF002EF1-1514-7984-DCD6-9DD21C012E43}"/>
              </a:ext>
            </a:extLst>
          </p:cNvPr>
          <p:cNvGrpSpPr/>
          <p:nvPr/>
        </p:nvGrpSpPr>
        <p:grpSpPr>
          <a:xfrm>
            <a:off x="15240" y="9480549"/>
            <a:ext cx="3666038" cy="811179"/>
            <a:chOff x="0" y="0"/>
            <a:chExt cx="1025531" cy="226918"/>
          </a:xfrm>
        </p:grpSpPr>
        <p:sp>
          <p:nvSpPr>
            <p:cNvPr id="16" name="Freeform 13">
              <a:extLst>
                <a:ext uri="{FF2B5EF4-FFF2-40B4-BE49-F238E27FC236}">
                  <a16:creationId xmlns:a16="http://schemas.microsoft.com/office/drawing/2014/main" id="{F4A933D3-3FE6-FE91-576C-AA6589005CC7}"/>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8"/>
              <a:stretch>
                <a:fillRect l="-921" r="-921"/>
              </a:stretch>
            </a:blipFill>
          </p:spPr>
          <p:txBody>
            <a:bodyPr/>
            <a:lstStyle/>
            <a:p>
              <a:endParaRPr lang="en-US"/>
            </a:p>
          </p:txBody>
        </p:sp>
      </p:grpSp>
      <p:sp>
        <p:nvSpPr>
          <p:cNvPr id="21" name="TextBox 20">
            <a:extLst>
              <a:ext uri="{FF2B5EF4-FFF2-40B4-BE49-F238E27FC236}">
                <a16:creationId xmlns:a16="http://schemas.microsoft.com/office/drawing/2014/main" id="{EC9FFE1E-D1A8-F023-F4D8-9023737D0687}"/>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IT22178886 | Rathnayaka L.P.N.K | 25-26J-371</a:t>
            </a:r>
            <a:endParaRPr lang="en-US" sz="2400" dirty="0">
              <a:effectLst/>
            </a:endParaRPr>
          </a:p>
        </p:txBody>
      </p:sp>
    </p:spTree>
    <p:extLst>
      <p:ext uri="{BB962C8B-B14F-4D97-AF65-F5344CB8AC3E}">
        <p14:creationId xmlns:p14="http://schemas.microsoft.com/office/powerpoint/2010/main" val="3326268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3">
            <a:extLst>
              <a:ext uri="{FF2B5EF4-FFF2-40B4-BE49-F238E27FC236}">
                <a16:creationId xmlns:a16="http://schemas.microsoft.com/office/drawing/2014/main" id="{833B13D5-894A-5E16-DA18-33939FBA6ECE}"/>
              </a:ext>
            </a:extLst>
          </p:cNvPr>
          <p:cNvSpPr/>
          <p:nvPr/>
        </p:nvSpPr>
        <p:spPr>
          <a:xfrm>
            <a:off x="86595" y="9493605"/>
            <a:ext cx="3666038" cy="811179"/>
          </a:xfrm>
          <a:custGeom>
            <a:avLst/>
            <a:gdLst/>
            <a:ahLst/>
            <a:cxnLst/>
            <a:rect l="l" t="t" r="r" b="b"/>
            <a:pathLst>
              <a:path w="1025531" h="226918">
                <a:moveTo>
                  <a:pt x="0" y="0"/>
                </a:moveTo>
                <a:lnTo>
                  <a:pt x="1025531" y="0"/>
                </a:lnTo>
                <a:lnTo>
                  <a:pt x="1025531" y="226918"/>
                </a:lnTo>
                <a:lnTo>
                  <a:pt x="0" y="226918"/>
                </a:lnTo>
                <a:close/>
              </a:path>
            </a:pathLst>
          </a:custGeom>
          <a:blipFill>
            <a:blip r:embed="rId2"/>
            <a:stretch>
              <a:fillRect l="-921" r="-921"/>
            </a:stretch>
          </a:blipFill>
        </p:spPr>
        <p:txBody>
          <a:bodyPr/>
          <a:lstStyle/>
          <a:p>
            <a:endParaRPr lang="en-US"/>
          </a:p>
        </p:txBody>
      </p:sp>
      <p:sp>
        <p:nvSpPr>
          <p:cNvPr id="2" name="Freeform 2"/>
          <p:cNvSpPr/>
          <p:nvPr/>
        </p:nvSpPr>
        <p:spPr>
          <a:xfrm rot="-4817078" flipH="1">
            <a:off x="7584624" y="-5318040"/>
            <a:ext cx="5404519" cy="10214726"/>
          </a:xfrm>
          <a:custGeom>
            <a:avLst/>
            <a:gdLst/>
            <a:ahLst/>
            <a:cxnLst/>
            <a:rect l="l" t="t" r="r" b="b"/>
            <a:pathLst>
              <a:path w="5404519" h="10214726">
                <a:moveTo>
                  <a:pt x="5404519" y="0"/>
                </a:moveTo>
                <a:lnTo>
                  <a:pt x="0" y="0"/>
                </a:lnTo>
                <a:lnTo>
                  <a:pt x="0" y="10214727"/>
                </a:lnTo>
                <a:lnTo>
                  <a:pt x="5404519" y="10214727"/>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2967973" y="5926801"/>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221335" y="4744117"/>
            <a:ext cx="4790733" cy="2872438"/>
            <a:chOff x="0" y="0"/>
            <a:chExt cx="817871" cy="406400"/>
          </a:xfrm>
        </p:grpSpPr>
        <p:sp>
          <p:nvSpPr>
            <p:cNvPr id="9" name="Freeform 9"/>
            <p:cNvSpPr/>
            <p:nvPr/>
          </p:nvSpPr>
          <p:spPr>
            <a:xfrm>
              <a:off x="0" y="0"/>
              <a:ext cx="817871" cy="406400"/>
            </a:xfrm>
            <a:custGeom>
              <a:avLst/>
              <a:gdLst/>
              <a:ahLst/>
              <a:cxnLst/>
              <a:rect l="l" t="t" r="r" b="b"/>
              <a:pathLst>
                <a:path w="817871" h="406400">
                  <a:moveTo>
                    <a:pt x="614671" y="0"/>
                  </a:moveTo>
                  <a:cubicBezTo>
                    <a:pt x="726901" y="0"/>
                    <a:pt x="817871" y="90970"/>
                    <a:pt x="817871" y="203200"/>
                  </a:cubicBezTo>
                  <a:cubicBezTo>
                    <a:pt x="817871" y="315430"/>
                    <a:pt x="726901" y="406400"/>
                    <a:pt x="614671" y="406400"/>
                  </a:cubicBezTo>
                  <a:lnTo>
                    <a:pt x="203200" y="406400"/>
                  </a:lnTo>
                  <a:cubicBezTo>
                    <a:pt x="90970" y="406400"/>
                    <a:pt x="0" y="315430"/>
                    <a:pt x="0" y="203200"/>
                  </a:cubicBezTo>
                  <a:cubicBezTo>
                    <a:pt x="0" y="90970"/>
                    <a:pt x="90970" y="0"/>
                    <a:pt x="203200" y="0"/>
                  </a:cubicBezTo>
                  <a:lnTo>
                    <a:pt x="614671" y="0"/>
                  </a:lnTo>
                </a:path>
              </a:pathLst>
            </a:custGeom>
            <a:blipFill>
              <a:blip r:embed="rId5"/>
              <a:stretch>
                <a:fillRect t="-3303" b="-30778"/>
              </a:stretch>
            </a:blipFill>
          </p:spPr>
          <p:txBody>
            <a:bodyPr/>
            <a:lstStyle/>
            <a:p>
              <a:endParaRPr lang="en-US" dirty="0"/>
            </a:p>
          </p:txBody>
        </p:sp>
      </p:grpSp>
      <p:grpSp>
        <p:nvGrpSpPr>
          <p:cNvPr id="10" name="Group 10"/>
          <p:cNvGrpSpPr/>
          <p:nvPr/>
        </p:nvGrpSpPr>
        <p:grpSpPr>
          <a:xfrm>
            <a:off x="574633" y="6403573"/>
            <a:ext cx="300229" cy="30022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46" name="TextBox 45">
            <a:extLst>
              <a:ext uri="{FF2B5EF4-FFF2-40B4-BE49-F238E27FC236}">
                <a16:creationId xmlns:a16="http://schemas.microsoft.com/office/drawing/2014/main" id="{A7CE9499-0188-E489-28F5-C2CF9CC8E215}"/>
              </a:ext>
            </a:extLst>
          </p:cNvPr>
          <p:cNvSpPr txBox="1"/>
          <p:nvPr/>
        </p:nvSpPr>
        <p:spPr>
          <a:xfrm>
            <a:off x="1409352" y="1560925"/>
            <a:ext cx="6178416" cy="553998"/>
          </a:xfrm>
          <a:prstGeom prst="rect">
            <a:avLst/>
          </a:prstGeom>
          <a:noFill/>
        </p:spPr>
        <p:txBody>
          <a:bodyPr wrap="square">
            <a:spAutoFit/>
          </a:bodyPr>
          <a:lstStyle/>
          <a:p>
            <a:r>
              <a:rPr lang="en-US" sz="3000" b="1" dirty="0">
                <a:solidFill>
                  <a:srgbClr val="85C9B4"/>
                </a:solidFill>
                <a:latin typeface="Poppins Medium" panose="00000600000000000000" pitchFamily="2" charset="0"/>
                <a:cs typeface="Poppins Medium" panose="00000600000000000000" pitchFamily="2" charset="0"/>
              </a:rPr>
              <a:t>Problem Statement</a:t>
            </a:r>
          </a:p>
        </p:txBody>
      </p:sp>
      <p:sp>
        <p:nvSpPr>
          <p:cNvPr id="19" name="TextBox 18">
            <a:extLst>
              <a:ext uri="{FF2B5EF4-FFF2-40B4-BE49-F238E27FC236}">
                <a16:creationId xmlns:a16="http://schemas.microsoft.com/office/drawing/2014/main" id="{EED17E36-7B48-7B90-0123-29AFA5BCD2BF}"/>
              </a:ext>
            </a:extLst>
          </p:cNvPr>
          <p:cNvSpPr txBox="1"/>
          <p:nvPr/>
        </p:nvSpPr>
        <p:spPr>
          <a:xfrm>
            <a:off x="1425062" y="565773"/>
            <a:ext cx="16251707" cy="830997"/>
          </a:xfrm>
          <a:prstGeom prst="rect">
            <a:avLst/>
          </a:prstGeom>
          <a:noFill/>
        </p:spPr>
        <p:txBody>
          <a:bodyPr wrap="square">
            <a:spAutoFit/>
          </a:bodyPr>
          <a:lstStyle/>
          <a:p>
            <a:r>
              <a:rPr lang="en-US" sz="4800" b="1" dirty="0"/>
              <a:t>Early Hypertension Risk Prediction and Recommendation </a:t>
            </a:r>
            <a:endParaRPr lang="en-US" sz="4500" dirty="0"/>
          </a:p>
        </p:txBody>
      </p:sp>
      <p:sp>
        <p:nvSpPr>
          <p:cNvPr id="13" name="TextBox 25">
            <a:extLst>
              <a:ext uri="{FF2B5EF4-FFF2-40B4-BE49-F238E27FC236}">
                <a16:creationId xmlns:a16="http://schemas.microsoft.com/office/drawing/2014/main" id="{1C383310-6238-1117-3932-5C7396421A01}"/>
              </a:ext>
            </a:extLst>
          </p:cNvPr>
          <p:cNvSpPr txBox="1"/>
          <p:nvPr/>
        </p:nvSpPr>
        <p:spPr>
          <a:xfrm>
            <a:off x="1494198" y="2060923"/>
            <a:ext cx="9398466" cy="1723549"/>
          </a:xfrm>
          <a:prstGeom prst="rect">
            <a:avLst/>
          </a:prstGeom>
        </p:spPr>
        <p:txBody>
          <a:bodyPr wrap="square" lIns="0" tIns="0" rIns="0" bIns="0" rtlCol="0" anchor="t">
            <a:spAutoFit/>
          </a:bodyPr>
          <a:lstStyle/>
          <a:p>
            <a:pPr algn="just"/>
            <a:r>
              <a:rPr lang="en-US" sz="2800" dirty="0"/>
              <a:t>Hypertension is rapidly increasing among Sri Lankan office workers due to sedentary lifestyles, high stress, and excessive salt intake. Current prediction tools are based on Western clinical datasets and fail to reflect local behavior and diet patterns.</a:t>
            </a:r>
            <a:endParaRPr lang="en-US" sz="2500" dirty="0">
              <a:solidFill>
                <a:srgbClr val="171C20"/>
              </a:solidFill>
              <a:latin typeface="Poppins"/>
              <a:ea typeface="Poppins"/>
              <a:cs typeface="Poppins"/>
              <a:sym typeface="Poppins"/>
            </a:endParaRPr>
          </a:p>
        </p:txBody>
      </p:sp>
      <p:sp>
        <p:nvSpPr>
          <p:cNvPr id="15" name="TextBox 25">
            <a:extLst>
              <a:ext uri="{FF2B5EF4-FFF2-40B4-BE49-F238E27FC236}">
                <a16:creationId xmlns:a16="http://schemas.microsoft.com/office/drawing/2014/main" id="{2C7043F3-24F4-EA77-DAB7-D6DEDDBED18F}"/>
              </a:ext>
            </a:extLst>
          </p:cNvPr>
          <p:cNvSpPr txBox="1"/>
          <p:nvPr/>
        </p:nvSpPr>
        <p:spPr>
          <a:xfrm>
            <a:off x="1409352" y="4298736"/>
            <a:ext cx="10408934" cy="68268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800" dirty="0"/>
              <a:t>Early detection and lifestyle modification can prevent 70% of potential hypertension cases.</a:t>
            </a:r>
            <a:endParaRPr lang="en-US" sz="2500" dirty="0">
              <a:solidFill>
                <a:srgbClr val="171C20"/>
              </a:solidFill>
              <a:latin typeface="Poppins"/>
              <a:ea typeface="Poppins"/>
              <a:cs typeface="Poppins"/>
              <a:sym typeface="Poppins"/>
            </a:endParaRPr>
          </a:p>
        </p:txBody>
      </p:sp>
      <p:sp>
        <p:nvSpPr>
          <p:cNvPr id="17" name="TextBox 25">
            <a:extLst>
              <a:ext uri="{FF2B5EF4-FFF2-40B4-BE49-F238E27FC236}">
                <a16:creationId xmlns:a16="http://schemas.microsoft.com/office/drawing/2014/main" id="{712CCF5F-3659-AC4D-C2BA-030779A3AC9C}"/>
              </a:ext>
            </a:extLst>
          </p:cNvPr>
          <p:cNvSpPr txBox="1"/>
          <p:nvPr/>
        </p:nvSpPr>
        <p:spPr>
          <a:xfrm>
            <a:off x="1393107" y="5113526"/>
            <a:ext cx="10408934" cy="349263"/>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800" dirty="0"/>
              <a:t>Localized, AI-based prediction improves preventive health decisions.</a:t>
            </a:r>
            <a:endParaRPr lang="en-US" sz="2500" dirty="0">
              <a:solidFill>
                <a:srgbClr val="171C20"/>
              </a:solidFill>
              <a:latin typeface="Poppins"/>
              <a:ea typeface="Poppins"/>
              <a:cs typeface="Poppins"/>
              <a:sym typeface="Poppins"/>
            </a:endParaRPr>
          </a:p>
        </p:txBody>
      </p:sp>
      <p:sp>
        <p:nvSpPr>
          <p:cNvPr id="23" name="TextBox 24">
            <a:extLst>
              <a:ext uri="{FF2B5EF4-FFF2-40B4-BE49-F238E27FC236}">
                <a16:creationId xmlns:a16="http://schemas.microsoft.com/office/drawing/2014/main" id="{04C0EF90-220E-E52E-B9C2-925233018A92}"/>
              </a:ext>
            </a:extLst>
          </p:cNvPr>
          <p:cNvSpPr txBox="1"/>
          <p:nvPr/>
        </p:nvSpPr>
        <p:spPr>
          <a:xfrm>
            <a:off x="1456095" y="5466184"/>
            <a:ext cx="11353799"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 How the Solution Addresses the Sub-Problem</a:t>
            </a:r>
          </a:p>
        </p:txBody>
      </p:sp>
      <p:sp>
        <p:nvSpPr>
          <p:cNvPr id="24" name="TextBox 25">
            <a:extLst>
              <a:ext uri="{FF2B5EF4-FFF2-40B4-BE49-F238E27FC236}">
                <a16:creationId xmlns:a16="http://schemas.microsoft.com/office/drawing/2014/main" id="{C63E89FD-4B17-45DC-F469-DD1C506F0EF3}"/>
              </a:ext>
            </a:extLst>
          </p:cNvPr>
          <p:cNvSpPr txBox="1"/>
          <p:nvPr/>
        </p:nvSpPr>
        <p:spPr>
          <a:xfrm>
            <a:off x="1707480" y="6703253"/>
            <a:ext cx="10408934" cy="682687"/>
          </a:xfrm>
          <a:prstGeom prst="rect">
            <a:avLst/>
          </a:prstGeom>
        </p:spPr>
        <p:txBody>
          <a:bodyPr wrap="square" lIns="0" tIns="0" rIns="0" bIns="0" rtlCol="0" anchor="t">
            <a:spAutoFit/>
          </a:bodyPr>
          <a:lstStyle/>
          <a:p>
            <a:pPr algn="just">
              <a:lnSpc>
                <a:spcPts val="2623"/>
              </a:lnSpc>
            </a:pPr>
            <a:r>
              <a:rPr lang="en-US" sz="2800" dirty="0"/>
              <a:t>Predict early hypertension risk and recommend personalized preventive actions.</a:t>
            </a:r>
            <a:endParaRPr lang="en-US" sz="2500" dirty="0">
              <a:solidFill>
                <a:srgbClr val="171C20"/>
              </a:solidFill>
              <a:latin typeface="Poppins"/>
              <a:ea typeface="Poppins"/>
              <a:cs typeface="Poppins"/>
              <a:sym typeface="Poppins"/>
            </a:endParaRPr>
          </a:p>
        </p:txBody>
      </p:sp>
      <p:sp>
        <p:nvSpPr>
          <p:cNvPr id="25" name="TextBox 24">
            <a:extLst>
              <a:ext uri="{FF2B5EF4-FFF2-40B4-BE49-F238E27FC236}">
                <a16:creationId xmlns:a16="http://schemas.microsoft.com/office/drawing/2014/main" id="{8C39B290-34A6-31E5-56F9-5F9CDA28CE86}"/>
              </a:ext>
            </a:extLst>
          </p:cNvPr>
          <p:cNvSpPr txBox="1"/>
          <p:nvPr/>
        </p:nvSpPr>
        <p:spPr>
          <a:xfrm>
            <a:off x="1427520" y="6180080"/>
            <a:ext cx="10401300" cy="523220"/>
          </a:xfrm>
          <a:prstGeom prst="rect">
            <a:avLst/>
          </a:prstGeom>
          <a:noFill/>
        </p:spPr>
        <p:txBody>
          <a:bodyPr wrap="square">
            <a:spAutoFit/>
          </a:bodyPr>
          <a:lstStyle/>
          <a:p>
            <a:r>
              <a:rPr lang="en-US" sz="2800" b="1" dirty="0"/>
              <a:t>Objective:</a:t>
            </a:r>
          </a:p>
        </p:txBody>
      </p:sp>
      <p:sp>
        <p:nvSpPr>
          <p:cNvPr id="26" name="TextBox 25">
            <a:extLst>
              <a:ext uri="{FF2B5EF4-FFF2-40B4-BE49-F238E27FC236}">
                <a16:creationId xmlns:a16="http://schemas.microsoft.com/office/drawing/2014/main" id="{C49F9537-69EE-5D50-B240-2F02E10BA17A}"/>
              </a:ext>
            </a:extLst>
          </p:cNvPr>
          <p:cNvSpPr txBox="1"/>
          <p:nvPr/>
        </p:nvSpPr>
        <p:spPr>
          <a:xfrm>
            <a:off x="1437045" y="7449476"/>
            <a:ext cx="10401300" cy="523220"/>
          </a:xfrm>
          <a:prstGeom prst="rect">
            <a:avLst/>
          </a:prstGeom>
          <a:noFill/>
        </p:spPr>
        <p:txBody>
          <a:bodyPr wrap="square">
            <a:spAutoFit/>
          </a:bodyPr>
          <a:lstStyle/>
          <a:p>
            <a:r>
              <a:rPr lang="en-US" sz="2800" b="1" dirty="0"/>
              <a:t>Prototype Features:</a:t>
            </a:r>
          </a:p>
        </p:txBody>
      </p:sp>
      <p:sp>
        <p:nvSpPr>
          <p:cNvPr id="27" name="TextBox 25">
            <a:extLst>
              <a:ext uri="{FF2B5EF4-FFF2-40B4-BE49-F238E27FC236}">
                <a16:creationId xmlns:a16="http://schemas.microsoft.com/office/drawing/2014/main" id="{B7DFCFBC-121A-D20B-D8A8-B2B6808FA6A3}"/>
              </a:ext>
            </a:extLst>
          </p:cNvPr>
          <p:cNvSpPr txBox="1"/>
          <p:nvPr/>
        </p:nvSpPr>
        <p:spPr>
          <a:xfrm>
            <a:off x="1707480" y="8003593"/>
            <a:ext cx="10408934" cy="682687"/>
          </a:xfrm>
          <a:prstGeom prst="rect">
            <a:avLst/>
          </a:prstGeom>
        </p:spPr>
        <p:txBody>
          <a:bodyPr wrap="square" lIns="0" tIns="0" rIns="0" bIns="0" rtlCol="0" anchor="t">
            <a:spAutoFit/>
          </a:bodyPr>
          <a:lstStyle/>
          <a:p>
            <a:pPr marL="457200" indent="-457200" algn="just">
              <a:lnSpc>
                <a:spcPts val="2623"/>
              </a:lnSpc>
              <a:buFont typeface="Arial" panose="020B0604020202020204" pitchFamily="34" charset="0"/>
              <a:buChar char="•"/>
            </a:pPr>
            <a:r>
              <a:rPr lang="en-US" sz="2800" b="1" dirty="0"/>
              <a:t>AI Model:</a:t>
            </a:r>
            <a:r>
              <a:rPr lang="en-US" sz="2800" dirty="0"/>
              <a:t> Predicts early hypertension risk (trained using your dataset).</a:t>
            </a:r>
            <a:endParaRPr lang="en-US" sz="2500" dirty="0">
              <a:solidFill>
                <a:srgbClr val="171C20"/>
              </a:solidFill>
              <a:latin typeface="Poppins"/>
              <a:ea typeface="Poppins"/>
              <a:cs typeface="Poppins"/>
              <a:sym typeface="Poppins"/>
            </a:endParaRPr>
          </a:p>
        </p:txBody>
      </p:sp>
      <p:sp>
        <p:nvSpPr>
          <p:cNvPr id="29" name="TextBox 25">
            <a:extLst>
              <a:ext uri="{FF2B5EF4-FFF2-40B4-BE49-F238E27FC236}">
                <a16:creationId xmlns:a16="http://schemas.microsoft.com/office/drawing/2014/main" id="{F71C804F-A9F0-37D2-8248-0C9B75C7CD12}"/>
              </a:ext>
            </a:extLst>
          </p:cNvPr>
          <p:cNvSpPr txBox="1"/>
          <p:nvPr/>
        </p:nvSpPr>
        <p:spPr>
          <a:xfrm>
            <a:off x="1707480" y="8789631"/>
            <a:ext cx="10408934" cy="349263"/>
          </a:xfrm>
          <a:prstGeom prst="rect">
            <a:avLst/>
          </a:prstGeom>
        </p:spPr>
        <p:txBody>
          <a:bodyPr wrap="square" lIns="0" tIns="0" rIns="0" bIns="0" rtlCol="0" anchor="t">
            <a:spAutoFit/>
          </a:bodyPr>
          <a:lstStyle/>
          <a:p>
            <a:pPr marL="457200" indent="-457200" algn="just">
              <a:lnSpc>
                <a:spcPts val="2623"/>
              </a:lnSpc>
              <a:buFont typeface="Arial" panose="020B0604020202020204" pitchFamily="34" charset="0"/>
              <a:buChar char="•"/>
            </a:pPr>
            <a:r>
              <a:rPr lang="en-US" sz="2800" b="1" dirty="0"/>
              <a:t>Explainability:</a:t>
            </a:r>
            <a:r>
              <a:rPr lang="en-US" sz="2800" dirty="0"/>
              <a:t> Displays key factors contributing to risk.</a:t>
            </a:r>
            <a:endParaRPr lang="en-US" sz="2500" dirty="0">
              <a:solidFill>
                <a:srgbClr val="171C20"/>
              </a:solidFill>
              <a:latin typeface="Poppins"/>
              <a:ea typeface="Poppins"/>
              <a:cs typeface="Poppins"/>
              <a:sym typeface="Poppins"/>
            </a:endParaRPr>
          </a:p>
        </p:txBody>
      </p:sp>
      <p:sp>
        <p:nvSpPr>
          <p:cNvPr id="30" name="TextBox 25">
            <a:extLst>
              <a:ext uri="{FF2B5EF4-FFF2-40B4-BE49-F238E27FC236}">
                <a16:creationId xmlns:a16="http://schemas.microsoft.com/office/drawing/2014/main" id="{4C0095E8-8B71-5EC5-B33C-1E7BF626408D}"/>
              </a:ext>
            </a:extLst>
          </p:cNvPr>
          <p:cNvSpPr txBox="1"/>
          <p:nvPr/>
        </p:nvSpPr>
        <p:spPr>
          <a:xfrm>
            <a:off x="1707480" y="9340089"/>
            <a:ext cx="10408934" cy="349263"/>
          </a:xfrm>
          <a:prstGeom prst="rect">
            <a:avLst/>
          </a:prstGeom>
        </p:spPr>
        <p:txBody>
          <a:bodyPr wrap="square" lIns="0" tIns="0" rIns="0" bIns="0" rtlCol="0" anchor="t">
            <a:spAutoFit/>
          </a:bodyPr>
          <a:lstStyle/>
          <a:p>
            <a:pPr marL="457200" indent="-457200" algn="just">
              <a:lnSpc>
                <a:spcPts val="2623"/>
              </a:lnSpc>
              <a:buFont typeface="Arial" panose="020B0604020202020204" pitchFamily="34" charset="0"/>
              <a:buChar char="•"/>
            </a:pPr>
            <a:r>
              <a:rPr lang="en-US" sz="2800" b="1" dirty="0"/>
              <a:t>Recommendation Engine:</a:t>
            </a:r>
            <a:r>
              <a:rPr lang="en-US" sz="2800" dirty="0"/>
              <a:t> Provides tailored lifestyle interventions.</a:t>
            </a:r>
            <a:endParaRPr lang="en-US" sz="2500" dirty="0">
              <a:solidFill>
                <a:srgbClr val="171C20"/>
              </a:solidFill>
              <a:latin typeface="Poppins"/>
              <a:ea typeface="Poppins"/>
              <a:cs typeface="Poppins"/>
              <a:sym typeface="Poppins"/>
            </a:endParaRPr>
          </a:p>
        </p:txBody>
      </p:sp>
      <p:sp>
        <p:nvSpPr>
          <p:cNvPr id="51" name="Rectangle: Rounded Corners 50">
            <a:extLst>
              <a:ext uri="{FF2B5EF4-FFF2-40B4-BE49-F238E27FC236}">
                <a16:creationId xmlns:a16="http://schemas.microsoft.com/office/drawing/2014/main" id="{EDC13D0F-F25E-0729-59E6-F4E21783B008}"/>
              </a:ext>
            </a:extLst>
          </p:cNvPr>
          <p:cNvSpPr/>
          <p:nvPr/>
        </p:nvSpPr>
        <p:spPr>
          <a:xfrm>
            <a:off x="13890101" y="1726995"/>
            <a:ext cx="4305649" cy="2677259"/>
          </a:xfrm>
          <a:prstGeom prst="roundRect">
            <a:avLst>
              <a:gd name="adj" fmla="val 37600"/>
            </a:avLst>
          </a:prstGeom>
          <a:blipFill dpi="0" rotWithShape="1">
            <a:blip r:embed="rId8">
              <a:extLst>
                <a:ext uri="{28A0092B-C50C-407E-A947-70E740481C1C}">
                  <a14:useLocalDpi xmlns:a14="http://schemas.microsoft.com/office/drawing/2010/main" val="0"/>
                </a:ext>
              </a:extLst>
            </a:blip>
            <a:srcRect/>
            <a:stretch>
              <a:fillRect/>
            </a:stretch>
          </a:blip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1048E02E-9A40-421E-8F8B-2CEFF74662C9}"/>
              </a:ext>
            </a:extLst>
          </p:cNvPr>
          <p:cNvSpPr txBox="1"/>
          <p:nvPr/>
        </p:nvSpPr>
        <p:spPr>
          <a:xfrm>
            <a:off x="1400741" y="3828414"/>
            <a:ext cx="10401300" cy="523220"/>
          </a:xfrm>
          <a:prstGeom prst="rect">
            <a:avLst/>
          </a:prstGeom>
          <a:noFill/>
        </p:spPr>
        <p:txBody>
          <a:bodyPr wrap="square">
            <a:spAutoFit/>
          </a:bodyPr>
          <a:lstStyle/>
          <a:p>
            <a:r>
              <a:rPr lang="en-US" sz="2800" b="1" dirty="0"/>
              <a:t>Impact:</a:t>
            </a:r>
          </a:p>
        </p:txBody>
      </p:sp>
      <p:sp>
        <p:nvSpPr>
          <p:cNvPr id="14" name="TextBox 13">
            <a:extLst>
              <a:ext uri="{FF2B5EF4-FFF2-40B4-BE49-F238E27FC236}">
                <a16:creationId xmlns:a16="http://schemas.microsoft.com/office/drawing/2014/main" id="{CF09B10C-7DA1-D86E-9777-0B3737404E45}"/>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IT22178886 | Rathnayaka L.P.N.K | 25-26J-371</a:t>
            </a:r>
            <a:endParaRPr lang="en-US" sz="2400" dirty="0">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31620" flipH="1">
            <a:off x="5277259" y="-64661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283342" y="-1659732"/>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243219" y="2169087"/>
            <a:ext cx="4419073" cy="8148639"/>
            <a:chOff x="0" y="0"/>
            <a:chExt cx="660400" cy="1217758"/>
          </a:xfrm>
        </p:grpSpPr>
        <p:sp>
          <p:nvSpPr>
            <p:cNvPr id="7" name="Freeform 7"/>
            <p:cNvSpPr/>
            <p:nvPr/>
          </p:nvSpPr>
          <p:spPr>
            <a:xfrm>
              <a:off x="0" y="0"/>
              <a:ext cx="660400" cy="1217758"/>
            </a:xfrm>
            <a:custGeom>
              <a:avLst/>
              <a:gdLst/>
              <a:ahLst/>
              <a:cxnLst/>
              <a:rect l="l" t="t" r="r" b="b"/>
              <a:pathLst>
                <a:path w="660400" h="121775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7497"/>
                  </a:cubicBezTo>
                  <a:lnTo>
                    <a:pt x="660400" y="1217758"/>
                  </a:lnTo>
                  <a:lnTo>
                    <a:pt x="0" y="1217758"/>
                  </a:lnTo>
                  <a:lnTo>
                    <a:pt x="0" y="338151"/>
                  </a:lnTo>
                  <a:cubicBezTo>
                    <a:pt x="1782" y="185660"/>
                    <a:pt x="93019" y="64045"/>
                    <a:pt x="220252" y="19070"/>
                  </a:cubicBezTo>
                  <a:close/>
                </a:path>
              </a:pathLst>
            </a:custGeom>
            <a:blipFill>
              <a:blip r:embed="rId4"/>
              <a:stretch>
                <a:fillRect r="-22854"/>
              </a:stretch>
            </a:blipFill>
          </p:spPr>
          <p:txBody>
            <a:bodyPr/>
            <a:lstStyle/>
            <a:p>
              <a:endParaRPr lang="en-US"/>
            </a:p>
          </p:txBody>
        </p:sp>
      </p:grpSp>
      <p:sp>
        <p:nvSpPr>
          <p:cNvPr id="11" name="Freeform 11"/>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5" name="Group 15"/>
          <p:cNvGrpSpPr/>
          <p:nvPr/>
        </p:nvGrpSpPr>
        <p:grpSpPr>
          <a:xfrm>
            <a:off x="11267812" y="1182423"/>
            <a:ext cx="300229" cy="30022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8" name="TextBox 17">
            <a:extLst>
              <a:ext uri="{FF2B5EF4-FFF2-40B4-BE49-F238E27FC236}">
                <a16:creationId xmlns:a16="http://schemas.microsoft.com/office/drawing/2014/main" id="{068BC20D-B441-EBCF-A98C-50E23107E9E7}"/>
              </a:ext>
            </a:extLst>
          </p:cNvPr>
          <p:cNvSpPr txBox="1"/>
          <p:nvPr/>
        </p:nvSpPr>
        <p:spPr>
          <a:xfrm>
            <a:off x="846715" y="500410"/>
            <a:ext cx="15327246" cy="769441"/>
          </a:xfrm>
          <a:prstGeom prst="rect">
            <a:avLst/>
          </a:prstGeom>
          <a:noFill/>
        </p:spPr>
        <p:txBody>
          <a:bodyPr wrap="square">
            <a:spAutoFit/>
          </a:bodyPr>
          <a:lstStyle/>
          <a:p>
            <a:r>
              <a:rPr lang="en-US" sz="4400" b="1" dirty="0"/>
              <a:t>Early Hypertension Risk Prediction and Recommendation </a:t>
            </a:r>
            <a:endParaRPr lang="en-US" sz="4400" dirty="0"/>
          </a:p>
        </p:txBody>
      </p:sp>
      <p:sp>
        <p:nvSpPr>
          <p:cNvPr id="34" name="TextBox 24">
            <a:extLst>
              <a:ext uri="{FF2B5EF4-FFF2-40B4-BE49-F238E27FC236}">
                <a16:creationId xmlns:a16="http://schemas.microsoft.com/office/drawing/2014/main" id="{183F52BC-F774-611B-3A2C-658ADE6B4D65}"/>
              </a:ext>
            </a:extLst>
          </p:cNvPr>
          <p:cNvSpPr txBox="1"/>
          <p:nvPr/>
        </p:nvSpPr>
        <p:spPr>
          <a:xfrm>
            <a:off x="890976" y="1759513"/>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User Requirements Addressed by the Solution</a:t>
            </a:r>
          </a:p>
        </p:txBody>
      </p:sp>
      <p:sp>
        <p:nvSpPr>
          <p:cNvPr id="35" name="TextBox 25">
            <a:extLst>
              <a:ext uri="{FF2B5EF4-FFF2-40B4-BE49-F238E27FC236}">
                <a16:creationId xmlns:a16="http://schemas.microsoft.com/office/drawing/2014/main" id="{A943DC97-26CD-C1DE-70D1-45D746DBDC98}"/>
              </a:ext>
            </a:extLst>
          </p:cNvPr>
          <p:cNvSpPr txBox="1"/>
          <p:nvPr/>
        </p:nvSpPr>
        <p:spPr>
          <a:xfrm>
            <a:off x="890976" y="2784798"/>
            <a:ext cx="9197504" cy="363497"/>
          </a:xfrm>
          <a:prstGeom prst="rect">
            <a:avLst/>
          </a:prstGeom>
        </p:spPr>
        <p:txBody>
          <a:bodyPr wrap="square" lIns="0" tIns="0" rIns="0" bIns="0" rtlCol="0" anchor="t">
            <a:spAutoFit/>
          </a:bodyPr>
          <a:lstStyle/>
          <a:p>
            <a:pPr marL="457200" indent="-457200" algn="just">
              <a:lnSpc>
                <a:spcPts val="2623"/>
              </a:lnSpc>
              <a:buFont typeface="Arial" panose="020B0604020202020204" pitchFamily="34" charset="0"/>
              <a:buChar char="•"/>
            </a:pPr>
            <a:r>
              <a:rPr lang="en-US" sz="3200" dirty="0"/>
              <a:t>Accurate, localized prediction</a:t>
            </a:r>
            <a:endParaRPr lang="en-US" sz="3000" dirty="0">
              <a:solidFill>
                <a:srgbClr val="171C20"/>
              </a:solidFill>
              <a:latin typeface="Poppins"/>
              <a:ea typeface="Poppins"/>
              <a:cs typeface="Poppins"/>
              <a:sym typeface="Poppins"/>
            </a:endParaRPr>
          </a:p>
        </p:txBody>
      </p:sp>
      <p:sp>
        <p:nvSpPr>
          <p:cNvPr id="37" name="TextBox 36">
            <a:extLst>
              <a:ext uri="{FF2B5EF4-FFF2-40B4-BE49-F238E27FC236}">
                <a16:creationId xmlns:a16="http://schemas.microsoft.com/office/drawing/2014/main" id="{0E0705F7-049F-5E9C-983E-4BD188F69955}"/>
              </a:ext>
            </a:extLst>
          </p:cNvPr>
          <p:cNvSpPr txBox="1"/>
          <p:nvPr/>
        </p:nvSpPr>
        <p:spPr>
          <a:xfrm>
            <a:off x="795379" y="3276570"/>
            <a:ext cx="10065774" cy="584775"/>
          </a:xfrm>
          <a:prstGeom prst="rect">
            <a:avLst/>
          </a:prstGeom>
          <a:noFill/>
        </p:spPr>
        <p:txBody>
          <a:bodyPr wrap="square">
            <a:spAutoFit/>
          </a:bodyPr>
          <a:lstStyle/>
          <a:p>
            <a:pPr marL="457200" indent="-457200">
              <a:buFont typeface="Arial" panose="020B0604020202020204" pitchFamily="34" charset="0"/>
              <a:buChar char="•"/>
            </a:pPr>
            <a:r>
              <a:rPr lang="en-US" sz="3200" dirty="0"/>
              <a:t>Personalized wellness recommendations</a:t>
            </a:r>
            <a:endParaRPr lang="en-US" sz="3000" dirty="0"/>
          </a:p>
        </p:txBody>
      </p:sp>
      <p:sp>
        <p:nvSpPr>
          <p:cNvPr id="43" name="TextBox 42">
            <a:extLst>
              <a:ext uri="{FF2B5EF4-FFF2-40B4-BE49-F238E27FC236}">
                <a16:creationId xmlns:a16="http://schemas.microsoft.com/office/drawing/2014/main" id="{9DA5BD71-DC90-7528-DA0D-76A05CA69926}"/>
              </a:ext>
            </a:extLst>
          </p:cNvPr>
          <p:cNvSpPr txBox="1"/>
          <p:nvPr/>
        </p:nvSpPr>
        <p:spPr>
          <a:xfrm>
            <a:off x="822007" y="6254072"/>
            <a:ext cx="15027593" cy="1077218"/>
          </a:xfrm>
          <a:prstGeom prst="rect">
            <a:avLst/>
          </a:prstGeom>
          <a:noFill/>
        </p:spPr>
        <p:txBody>
          <a:bodyPr wrap="square">
            <a:spAutoFit/>
          </a:bodyPr>
          <a:lstStyle/>
          <a:p>
            <a:pPr marL="457200" indent="-457200">
              <a:buFont typeface="Arial" panose="020B0604020202020204" pitchFamily="34" charset="0"/>
              <a:buChar char="•"/>
            </a:pPr>
            <a:r>
              <a:rPr lang="en-US" sz="3200" dirty="0"/>
              <a:t>Combines AI prediction, explainable insights, and wellness guidance in </a:t>
            </a:r>
          </a:p>
          <a:p>
            <a:r>
              <a:rPr lang="en-US" sz="3200" dirty="0"/>
              <a:t>     one system.</a:t>
            </a:r>
            <a:endParaRPr lang="en-US" sz="3000" dirty="0"/>
          </a:p>
        </p:txBody>
      </p:sp>
      <p:sp>
        <p:nvSpPr>
          <p:cNvPr id="44" name="TextBox 24">
            <a:extLst>
              <a:ext uri="{FF2B5EF4-FFF2-40B4-BE49-F238E27FC236}">
                <a16:creationId xmlns:a16="http://schemas.microsoft.com/office/drawing/2014/main" id="{9B48981C-35C4-EF98-6949-660D7897C557}"/>
              </a:ext>
            </a:extLst>
          </p:cNvPr>
          <p:cNvSpPr txBox="1"/>
          <p:nvPr/>
        </p:nvSpPr>
        <p:spPr>
          <a:xfrm>
            <a:off x="860896" y="5451754"/>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Design Excellence</a:t>
            </a:r>
          </a:p>
        </p:txBody>
      </p:sp>
      <p:sp>
        <p:nvSpPr>
          <p:cNvPr id="49" name="TextBox 48">
            <a:extLst>
              <a:ext uri="{FF2B5EF4-FFF2-40B4-BE49-F238E27FC236}">
                <a16:creationId xmlns:a16="http://schemas.microsoft.com/office/drawing/2014/main" id="{53832DCA-1D24-FBF9-B5B5-C5EA901E961D}"/>
              </a:ext>
            </a:extLst>
          </p:cNvPr>
          <p:cNvSpPr txBox="1"/>
          <p:nvPr/>
        </p:nvSpPr>
        <p:spPr>
          <a:xfrm>
            <a:off x="860896" y="7397936"/>
            <a:ext cx="12428206" cy="584775"/>
          </a:xfrm>
          <a:prstGeom prst="rect">
            <a:avLst/>
          </a:prstGeom>
          <a:noFill/>
        </p:spPr>
        <p:txBody>
          <a:bodyPr wrap="square">
            <a:spAutoFit/>
          </a:bodyPr>
          <a:lstStyle/>
          <a:p>
            <a:pPr marL="457200" indent="-457200">
              <a:buFont typeface="Arial" panose="020B0604020202020204" pitchFamily="34" charset="0"/>
              <a:buChar char="•"/>
            </a:pPr>
            <a:r>
              <a:rPr lang="en-US" sz="3200" dirty="0"/>
              <a:t>Lightweight and deployable on low-resource environments.</a:t>
            </a:r>
            <a:endParaRPr lang="en-US" sz="3000" dirty="0"/>
          </a:p>
        </p:txBody>
      </p:sp>
      <p:sp>
        <p:nvSpPr>
          <p:cNvPr id="50" name="TextBox 49">
            <a:extLst>
              <a:ext uri="{FF2B5EF4-FFF2-40B4-BE49-F238E27FC236}">
                <a16:creationId xmlns:a16="http://schemas.microsoft.com/office/drawing/2014/main" id="{92F4CCDA-BED8-4A6E-C303-67F9FD6304C8}"/>
              </a:ext>
            </a:extLst>
          </p:cNvPr>
          <p:cNvSpPr txBox="1"/>
          <p:nvPr/>
        </p:nvSpPr>
        <p:spPr>
          <a:xfrm>
            <a:off x="795379" y="8099550"/>
            <a:ext cx="12474469" cy="584775"/>
          </a:xfrm>
          <a:prstGeom prst="rect">
            <a:avLst/>
          </a:prstGeom>
          <a:noFill/>
        </p:spPr>
        <p:txBody>
          <a:bodyPr wrap="square">
            <a:spAutoFit/>
          </a:bodyPr>
          <a:lstStyle/>
          <a:p>
            <a:pPr marL="457200" indent="-457200">
              <a:buFont typeface="Arial" panose="020B0604020202020204" pitchFamily="34" charset="0"/>
              <a:buChar char="•"/>
            </a:pPr>
            <a:r>
              <a:rPr lang="en-US" sz="3200" dirty="0"/>
              <a:t>Enables preventive health culture within office environments.</a:t>
            </a:r>
            <a:endParaRPr lang="en-US" sz="3000" dirty="0"/>
          </a:p>
        </p:txBody>
      </p:sp>
      <p:sp>
        <p:nvSpPr>
          <p:cNvPr id="8" name="TextBox 7">
            <a:extLst>
              <a:ext uri="{FF2B5EF4-FFF2-40B4-BE49-F238E27FC236}">
                <a16:creationId xmlns:a16="http://schemas.microsoft.com/office/drawing/2014/main" id="{EC1B192E-5E5E-7D61-034C-EA271B793227}"/>
              </a:ext>
            </a:extLst>
          </p:cNvPr>
          <p:cNvSpPr txBox="1"/>
          <p:nvPr/>
        </p:nvSpPr>
        <p:spPr>
          <a:xfrm>
            <a:off x="795379" y="4032928"/>
            <a:ext cx="10065774" cy="584775"/>
          </a:xfrm>
          <a:prstGeom prst="rect">
            <a:avLst/>
          </a:prstGeom>
          <a:noFill/>
        </p:spPr>
        <p:txBody>
          <a:bodyPr wrap="square">
            <a:spAutoFit/>
          </a:bodyPr>
          <a:lstStyle/>
          <a:p>
            <a:pPr marL="457200" indent="-457200">
              <a:buFont typeface="Arial" panose="020B0604020202020204" pitchFamily="34" charset="0"/>
              <a:buChar char="•"/>
            </a:pPr>
            <a:r>
              <a:rPr lang="en-US" sz="3200" dirty="0"/>
              <a:t>Simple, web-based interface for accessibility</a:t>
            </a:r>
            <a:endParaRPr lang="en-US" sz="3000" dirty="0"/>
          </a:p>
        </p:txBody>
      </p:sp>
      <p:grpSp>
        <p:nvGrpSpPr>
          <p:cNvPr id="10" name="Group 9">
            <a:extLst>
              <a:ext uri="{FF2B5EF4-FFF2-40B4-BE49-F238E27FC236}">
                <a16:creationId xmlns:a16="http://schemas.microsoft.com/office/drawing/2014/main" id="{C7B9AEE3-4E05-5734-2D21-24A9188861AA}"/>
              </a:ext>
            </a:extLst>
          </p:cNvPr>
          <p:cNvGrpSpPr/>
          <p:nvPr/>
        </p:nvGrpSpPr>
        <p:grpSpPr>
          <a:xfrm>
            <a:off x="15240" y="9480549"/>
            <a:ext cx="3666038" cy="811179"/>
            <a:chOff x="0" y="0"/>
            <a:chExt cx="1025531" cy="226918"/>
          </a:xfrm>
        </p:grpSpPr>
        <p:sp>
          <p:nvSpPr>
            <p:cNvPr id="12" name="Freeform 13">
              <a:extLst>
                <a:ext uri="{FF2B5EF4-FFF2-40B4-BE49-F238E27FC236}">
                  <a16:creationId xmlns:a16="http://schemas.microsoft.com/office/drawing/2014/main" id="{23E68802-CCEB-0A68-B7E0-69416822AA1C}"/>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7"/>
              <a:stretch>
                <a:fillRect l="-921" r="-921"/>
              </a:stretch>
            </a:blipFill>
          </p:spPr>
          <p:txBody>
            <a:bodyPr/>
            <a:lstStyle/>
            <a:p>
              <a:endParaRPr lang="en-US"/>
            </a:p>
          </p:txBody>
        </p:sp>
      </p:grpSp>
      <p:sp>
        <p:nvSpPr>
          <p:cNvPr id="13" name="TextBox 12">
            <a:extLst>
              <a:ext uri="{FF2B5EF4-FFF2-40B4-BE49-F238E27FC236}">
                <a16:creationId xmlns:a16="http://schemas.microsoft.com/office/drawing/2014/main" id="{B4ED2C11-C883-1C03-96D8-C6625544CBA4}"/>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IT22178886 | Rathnayaka L.P.N.K | 25-26J-371</a:t>
            </a:r>
            <a:endParaRPr lang="en-US" sz="2400" dirty="0">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A192-49DE-DE9A-9D91-44DDDD046B71}"/>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A3B9907-81FB-B309-ADEE-C4426F6A7BDE}"/>
              </a:ext>
            </a:extLst>
          </p:cNvPr>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43541C65-24A7-0A0B-6C7B-DB147D89FB9A}"/>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B00C8BFD-9EB9-796F-A0EC-A721E569FD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22922CBD-65D9-8362-9D1D-3846CBB1F440}"/>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 name="TextBox 1">
            <a:extLst>
              <a:ext uri="{FF2B5EF4-FFF2-40B4-BE49-F238E27FC236}">
                <a16:creationId xmlns:a16="http://schemas.microsoft.com/office/drawing/2014/main" id="{22924907-1BDD-7101-0BB3-9D591EA9BDE7}"/>
              </a:ext>
            </a:extLst>
          </p:cNvPr>
          <p:cNvSpPr txBox="1"/>
          <p:nvPr/>
        </p:nvSpPr>
        <p:spPr>
          <a:xfrm>
            <a:off x="921037" y="267108"/>
            <a:ext cx="15327246" cy="769441"/>
          </a:xfrm>
          <a:prstGeom prst="rect">
            <a:avLst/>
          </a:prstGeom>
          <a:noFill/>
        </p:spPr>
        <p:txBody>
          <a:bodyPr wrap="square">
            <a:spAutoFit/>
          </a:bodyPr>
          <a:lstStyle/>
          <a:p>
            <a:r>
              <a:rPr lang="en-US" sz="4400" b="1" dirty="0"/>
              <a:t>Early Hypertension Risk Prediction and Recommendation </a:t>
            </a:r>
            <a:endParaRPr lang="en-US" sz="4400" dirty="0"/>
          </a:p>
        </p:txBody>
      </p:sp>
      <p:sp>
        <p:nvSpPr>
          <p:cNvPr id="7" name="TextBox 6">
            <a:extLst>
              <a:ext uri="{FF2B5EF4-FFF2-40B4-BE49-F238E27FC236}">
                <a16:creationId xmlns:a16="http://schemas.microsoft.com/office/drawing/2014/main" id="{5BDA2BEB-615F-41CA-4829-95C6C1D27DE7}"/>
              </a:ext>
            </a:extLst>
          </p:cNvPr>
          <p:cNvSpPr txBox="1"/>
          <p:nvPr/>
        </p:nvSpPr>
        <p:spPr>
          <a:xfrm>
            <a:off x="849047" y="1624550"/>
            <a:ext cx="10183760" cy="707886"/>
          </a:xfrm>
          <a:prstGeom prst="rect">
            <a:avLst/>
          </a:prstGeom>
          <a:noFill/>
        </p:spPr>
        <p:txBody>
          <a:bodyPr wrap="square">
            <a:spAutoFit/>
          </a:bodyPr>
          <a:lstStyle/>
          <a:p>
            <a:r>
              <a:rPr lang="en-US" sz="4000" b="1" dirty="0">
                <a:solidFill>
                  <a:srgbClr val="85C9B4"/>
                </a:solidFill>
              </a:rPr>
              <a:t>User Feedback on Prototype</a:t>
            </a:r>
          </a:p>
        </p:txBody>
      </p:sp>
      <p:sp>
        <p:nvSpPr>
          <p:cNvPr id="10" name="TextBox 9">
            <a:extLst>
              <a:ext uri="{FF2B5EF4-FFF2-40B4-BE49-F238E27FC236}">
                <a16:creationId xmlns:a16="http://schemas.microsoft.com/office/drawing/2014/main" id="{8CDF1B59-4821-19F4-D745-CACECA74C5C7}"/>
              </a:ext>
            </a:extLst>
          </p:cNvPr>
          <p:cNvSpPr txBox="1"/>
          <p:nvPr/>
        </p:nvSpPr>
        <p:spPr>
          <a:xfrm>
            <a:off x="544247" y="2476500"/>
            <a:ext cx="13095553" cy="1825756"/>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200" dirty="0"/>
              <a:t>“Simple and informative helps understand my personal risk.”</a:t>
            </a:r>
          </a:p>
          <a:p>
            <a:pPr marL="457200" indent="-457200">
              <a:lnSpc>
                <a:spcPct val="120000"/>
              </a:lnSpc>
              <a:buFont typeface="Arial" panose="020B0604020202020204" pitchFamily="34" charset="0"/>
              <a:buChar char="•"/>
            </a:pPr>
            <a:r>
              <a:rPr lang="en-US" sz="3200" dirty="0"/>
              <a:t>“The recommendations are easy to follow and culturally relevant.”</a:t>
            </a:r>
          </a:p>
          <a:p>
            <a:pPr marL="457200" indent="-457200">
              <a:lnSpc>
                <a:spcPct val="120000"/>
              </a:lnSpc>
              <a:buFont typeface="Arial" panose="020B0604020202020204" pitchFamily="34" charset="0"/>
              <a:buChar char="•"/>
            </a:pPr>
            <a:r>
              <a:rPr lang="en-US" sz="3200" dirty="0"/>
              <a:t>“Visualization clearly shows why I’m at higher risk.”</a:t>
            </a:r>
          </a:p>
        </p:txBody>
      </p:sp>
      <p:pic>
        <p:nvPicPr>
          <p:cNvPr id="48" name="Picture 47">
            <a:extLst>
              <a:ext uri="{FF2B5EF4-FFF2-40B4-BE49-F238E27FC236}">
                <a16:creationId xmlns:a16="http://schemas.microsoft.com/office/drawing/2014/main" id="{2258F81D-0733-2D0A-D75F-2679ED1C4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3926" y="5029431"/>
            <a:ext cx="4876800" cy="3619500"/>
          </a:xfrm>
          <a:prstGeom prst="rect">
            <a:avLst/>
          </a:prstGeom>
        </p:spPr>
      </p:pic>
      <p:grpSp>
        <p:nvGrpSpPr>
          <p:cNvPr id="3" name="Group 2">
            <a:extLst>
              <a:ext uri="{FF2B5EF4-FFF2-40B4-BE49-F238E27FC236}">
                <a16:creationId xmlns:a16="http://schemas.microsoft.com/office/drawing/2014/main" id="{5437D98B-FB2B-0E09-52F3-669818F392CD}"/>
              </a:ext>
            </a:extLst>
          </p:cNvPr>
          <p:cNvGrpSpPr/>
          <p:nvPr/>
        </p:nvGrpSpPr>
        <p:grpSpPr>
          <a:xfrm>
            <a:off x="15240" y="9480549"/>
            <a:ext cx="3666038" cy="811179"/>
            <a:chOff x="0" y="0"/>
            <a:chExt cx="1025531" cy="226918"/>
          </a:xfrm>
        </p:grpSpPr>
        <p:sp>
          <p:nvSpPr>
            <p:cNvPr id="4" name="Freeform 13">
              <a:extLst>
                <a:ext uri="{FF2B5EF4-FFF2-40B4-BE49-F238E27FC236}">
                  <a16:creationId xmlns:a16="http://schemas.microsoft.com/office/drawing/2014/main" id="{89CF930B-5F05-034D-3568-5E01F39AEB91}"/>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5"/>
              <a:stretch>
                <a:fillRect l="-921" r="-921"/>
              </a:stretch>
            </a:blipFill>
          </p:spPr>
          <p:txBody>
            <a:bodyPr/>
            <a:lstStyle/>
            <a:p>
              <a:endParaRPr lang="en-US"/>
            </a:p>
          </p:txBody>
        </p:sp>
      </p:grpSp>
      <p:sp>
        <p:nvSpPr>
          <p:cNvPr id="6" name="TextBox 5">
            <a:extLst>
              <a:ext uri="{FF2B5EF4-FFF2-40B4-BE49-F238E27FC236}">
                <a16:creationId xmlns:a16="http://schemas.microsoft.com/office/drawing/2014/main" id="{655D4383-D086-D3C3-B1C6-7EFF7DE97397}"/>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IT22178886 | Rathnayaka L.P.N.K | 25-26J-371</a:t>
            </a:r>
            <a:endParaRPr lang="en-US" sz="2400" dirty="0">
              <a:effectLst/>
            </a:endParaRPr>
          </a:p>
        </p:txBody>
      </p:sp>
    </p:spTree>
    <p:extLst>
      <p:ext uri="{BB962C8B-B14F-4D97-AF65-F5344CB8AC3E}">
        <p14:creationId xmlns:p14="http://schemas.microsoft.com/office/powerpoint/2010/main" val="2993974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D353-898A-7B84-92A6-704E5291D7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25F2C-1C42-F59E-0BF8-8F9F09880454}"/>
              </a:ext>
            </a:extLst>
          </p:cNvPr>
          <p:cNvSpPr/>
          <p:nvPr/>
        </p:nvSpPr>
        <p:spPr>
          <a:xfrm rot="-4817078" flipH="1">
            <a:off x="7584624" y="-531819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EF2C3589-869E-45B4-C481-5AD42545D14D}"/>
              </a:ext>
            </a:extLst>
          </p:cNvPr>
          <p:cNvGrpSpPr/>
          <p:nvPr/>
        </p:nvGrpSpPr>
        <p:grpSpPr>
          <a:xfrm>
            <a:off x="574633" y="6403573"/>
            <a:ext cx="300229" cy="300229"/>
            <a:chOff x="0" y="0"/>
            <a:chExt cx="812800" cy="812800"/>
          </a:xfrm>
        </p:grpSpPr>
        <p:sp>
          <p:nvSpPr>
            <p:cNvPr id="11" name="Freeform 11">
              <a:extLst>
                <a:ext uri="{FF2B5EF4-FFF2-40B4-BE49-F238E27FC236}">
                  <a16:creationId xmlns:a16="http://schemas.microsoft.com/office/drawing/2014/main" id="{94B3E04B-7415-31B4-7259-F04814162E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7C83FAB6-C918-6C4A-29AD-7B979627E07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a:extLst>
              <a:ext uri="{FF2B5EF4-FFF2-40B4-BE49-F238E27FC236}">
                <a16:creationId xmlns:a16="http://schemas.microsoft.com/office/drawing/2014/main" id="{7367B625-B626-2729-682C-4D0256FC9389}"/>
              </a:ext>
            </a:extLst>
          </p:cNvPr>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73F597A8-0447-2F2F-0556-2253ED036D0D}"/>
              </a:ext>
            </a:extLst>
          </p:cNvPr>
          <p:cNvSpPr/>
          <p:nvPr/>
        </p:nvSpPr>
        <p:spPr>
          <a:xfrm rot="-823344">
            <a:off x="16466159" y="8833670"/>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E00E07E4-078E-D5BA-064B-BCEA8E8F0B9B}"/>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9F5B0912-3316-5D7D-ECDF-C720BDDDF1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394A7BC4-1320-BF2D-0C73-2FB4850B69F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9" name="TextBox 18">
            <a:extLst>
              <a:ext uri="{FF2B5EF4-FFF2-40B4-BE49-F238E27FC236}">
                <a16:creationId xmlns:a16="http://schemas.microsoft.com/office/drawing/2014/main" id="{4921DD68-2983-1F1E-91D4-3E714A6E2734}"/>
              </a:ext>
            </a:extLst>
          </p:cNvPr>
          <p:cNvSpPr txBox="1"/>
          <p:nvPr/>
        </p:nvSpPr>
        <p:spPr>
          <a:xfrm>
            <a:off x="1793139" y="351226"/>
            <a:ext cx="15327246" cy="707886"/>
          </a:xfrm>
          <a:prstGeom prst="rect">
            <a:avLst/>
          </a:prstGeom>
          <a:noFill/>
        </p:spPr>
        <p:txBody>
          <a:bodyPr wrap="square">
            <a:spAutoFit/>
          </a:bodyPr>
          <a:lstStyle/>
          <a:p>
            <a:r>
              <a:rPr lang="en-US" sz="4000" b="1" dirty="0"/>
              <a:t>Early Hypertension Risk Prediction and Recommendation </a:t>
            </a:r>
            <a:endParaRPr lang="en-US" sz="4000" dirty="0"/>
          </a:p>
        </p:txBody>
      </p:sp>
      <p:sp>
        <p:nvSpPr>
          <p:cNvPr id="6" name="TextBox 5">
            <a:extLst>
              <a:ext uri="{FF2B5EF4-FFF2-40B4-BE49-F238E27FC236}">
                <a16:creationId xmlns:a16="http://schemas.microsoft.com/office/drawing/2014/main" id="{FCA73462-FA60-1BAA-D6B0-7E4474A6C870}"/>
              </a:ext>
            </a:extLst>
          </p:cNvPr>
          <p:cNvSpPr txBox="1"/>
          <p:nvPr/>
        </p:nvSpPr>
        <p:spPr>
          <a:xfrm>
            <a:off x="1793139" y="1057375"/>
            <a:ext cx="14544967" cy="553998"/>
          </a:xfrm>
          <a:prstGeom prst="rect">
            <a:avLst/>
          </a:prstGeom>
          <a:noFill/>
        </p:spPr>
        <p:txBody>
          <a:bodyPr wrap="square">
            <a:spAutoFit/>
          </a:bodyPr>
          <a:lstStyle/>
          <a:p>
            <a:r>
              <a:rPr lang="en-US" sz="3000" b="1" dirty="0">
                <a:solidFill>
                  <a:srgbClr val="85C9B4"/>
                </a:solidFill>
              </a:rPr>
              <a:t>System Overview</a:t>
            </a:r>
          </a:p>
        </p:txBody>
      </p:sp>
      <p:pic>
        <p:nvPicPr>
          <p:cNvPr id="8" name="Picture 7">
            <a:extLst>
              <a:ext uri="{FF2B5EF4-FFF2-40B4-BE49-F238E27FC236}">
                <a16:creationId xmlns:a16="http://schemas.microsoft.com/office/drawing/2014/main" id="{246E7F52-ECB9-FB20-F7CB-FEFF3CDC86CB}"/>
              </a:ext>
            </a:extLst>
          </p:cNvPr>
          <p:cNvPicPr>
            <a:picLocks noChangeAspect="1"/>
          </p:cNvPicPr>
          <p:nvPr/>
        </p:nvPicPr>
        <p:blipFill>
          <a:blip r:embed="rId8">
            <a:extLst>
              <a:ext uri="{28A0092B-C50C-407E-A947-70E740481C1C}">
                <a14:useLocalDpi xmlns:a14="http://schemas.microsoft.com/office/drawing/2010/main" val="0"/>
              </a:ext>
            </a:extLst>
          </a:blip>
          <a:srcRect t="21026" b="19531"/>
          <a:stretch>
            <a:fillRect/>
          </a:stretch>
        </p:blipFill>
        <p:spPr>
          <a:xfrm>
            <a:off x="1547197" y="2317522"/>
            <a:ext cx="15819129" cy="6268851"/>
          </a:xfrm>
          <a:prstGeom prst="rect">
            <a:avLst/>
          </a:prstGeom>
        </p:spPr>
      </p:pic>
      <p:grpSp>
        <p:nvGrpSpPr>
          <p:cNvPr id="3" name="Group 2">
            <a:extLst>
              <a:ext uri="{FF2B5EF4-FFF2-40B4-BE49-F238E27FC236}">
                <a16:creationId xmlns:a16="http://schemas.microsoft.com/office/drawing/2014/main" id="{1F0FF0C4-6585-8D7C-2FA3-E3D427831517}"/>
              </a:ext>
            </a:extLst>
          </p:cNvPr>
          <p:cNvGrpSpPr/>
          <p:nvPr/>
        </p:nvGrpSpPr>
        <p:grpSpPr>
          <a:xfrm>
            <a:off x="15240" y="9480549"/>
            <a:ext cx="3666038" cy="811179"/>
            <a:chOff x="0" y="0"/>
            <a:chExt cx="1025531" cy="226918"/>
          </a:xfrm>
        </p:grpSpPr>
        <p:sp>
          <p:nvSpPr>
            <p:cNvPr id="4" name="Freeform 13">
              <a:extLst>
                <a:ext uri="{FF2B5EF4-FFF2-40B4-BE49-F238E27FC236}">
                  <a16:creationId xmlns:a16="http://schemas.microsoft.com/office/drawing/2014/main" id="{D8166A02-E580-1B2D-8E4E-3B74D4B964E6}"/>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9"/>
              <a:stretch>
                <a:fillRect l="-921" r="-921"/>
              </a:stretch>
            </a:blipFill>
          </p:spPr>
          <p:txBody>
            <a:bodyPr/>
            <a:lstStyle/>
            <a:p>
              <a:endParaRPr lang="en-US"/>
            </a:p>
          </p:txBody>
        </p:sp>
      </p:grpSp>
      <p:sp>
        <p:nvSpPr>
          <p:cNvPr id="5" name="TextBox 4">
            <a:extLst>
              <a:ext uri="{FF2B5EF4-FFF2-40B4-BE49-F238E27FC236}">
                <a16:creationId xmlns:a16="http://schemas.microsoft.com/office/drawing/2014/main" id="{6F80E9D2-7458-AF67-7C90-763DAE09559F}"/>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IT22178886 | Rathnayaka L.P.N.K | 25-26J-371</a:t>
            </a:r>
            <a:endParaRPr lang="en-US" sz="2400" dirty="0">
              <a:effectLst/>
            </a:endParaRPr>
          </a:p>
        </p:txBody>
      </p:sp>
    </p:spTree>
    <p:extLst>
      <p:ext uri="{BB962C8B-B14F-4D97-AF65-F5344CB8AC3E}">
        <p14:creationId xmlns:p14="http://schemas.microsoft.com/office/powerpoint/2010/main" val="1844061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38165-AAC5-4A3B-EC24-6C14EBB5976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4795FD-2438-60C9-1E1D-6FB2BD1A1F4F}"/>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dirty="0"/>
          </a:p>
        </p:txBody>
      </p:sp>
      <p:grpSp>
        <p:nvGrpSpPr>
          <p:cNvPr id="3" name="Group 3">
            <a:extLst>
              <a:ext uri="{FF2B5EF4-FFF2-40B4-BE49-F238E27FC236}">
                <a16:creationId xmlns:a16="http://schemas.microsoft.com/office/drawing/2014/main" id="{6B800B1C-C1E4-824F-13E7-210D479DC12D}"/>
              </a:ext>
            </a:extLst>
          </p:cNvPr>
          <p:cNvGrpSpPr/>
          <p:nvPr/>
        </p:nvGrpSpPr>
        <p:grpSpPr>
          <a:xfrm>
            <a:off x="0" y="0"/>
            <a:ext cx="16496626" cy="10287000"/>
            <a:chOff x="0" y="0"/>
            <a:chExt cx="4344790" cy="2709333"/>
          </a:xfrm>
        </p:grpSpPr>
        <p:sp>
          <p:nvSpPr>
            <p:cNvPr id="4" name="Freeform 4">
              <a:extLst>
                <a:ext uri="{FF2B5EF4-FFF2-40B4-BE49-F238E27FC236}">
                  <a16:creationId xmlns:a16="http://schemas.microsoft.com/office/drawing/2014/main" id="{A5D8CDDC-7ADC-8FF6-0852-3C017945784F}"/>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a:p>
          </p:txBody>
        </p:sp>
        <p:sp>
          <p:nvSpPr>
            <p:cNvPr id="5" name="TextBox 5">
              <a:extLst>
                <a:ext uri="{FF2B5EF4-FFF2-40B4-BE49-F238E27FC236}">
                  <a16:creationId xmlns:a16="http://schemas.microsoft.com/office/drawing/2014/main" id="{870BACC3-2FD7-3788-4614-B3EDACAD94AD}"/>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9430F106-B57D-5FF3-0F12-C28F5B546B53}"/>
              </a:ext>
            </a:extLst>
          </p:cNvPr>
          <p:cNvSpPr/>
          <p:nvPr/>
        </p:nvSpPr>
        <p:spPr>
          <a:xfrm rot="-5931620" flipH="1">
            <a:off x="5415661" y="-4946745"/>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A5F7A8B1-EBBA-47FF-C197-C2E687462EC6}"/>
              </a:ext>
            </a:extLst>
          </p:cNvPr>
          <p:cNvSpPr/>
          <p:nvPr/>
        </p:nvSpPr>
        <p:spPr>
          <a:xfrm rot="8510065" flipH="1" flipV="1">
            <a:off x="-220504" y="65413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8D210D56-17F3-BEB5-A1BD-E99E5413F1C6}"/>
              </a:ext>
            </a:extLst>
          </p:cNvPr>
          <p:cNvSpPr/>
          <p:nvPr/>
        </p:nvSpPr>
        <p:spPr>
          <a:xfrm rot="-823344">
            <a:off x="8752050" y="2170511"/>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96F3ABE8-2E65-60C2-1EBE-1BA80924EED4}"/>
              </a:ext>
            </a:extLst>
          </p:cNvPr>
          <p:cNvSpPr/>
          <p:nvPr/>
        </p:nvSpPr>
        <p:spPr>
          <a:xfrm rot="-823344">
            <a:off x="8558149" y="2490447"/>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816472CF-6881-854D-490F-07D45ED28E4A}"/>
              </a:ext>
            </a:extLst>
          </p:cNvPr>
          <p:cNvGrpSpPr/>
          <p:nvPr/>
        </p:nvGrpSpPr>
        <p:grpSpPr>
          <a:xfrm>
            <a:off x="613530" y="5735477"/>
            <a:ext cx="300229" cy="300229"/>
            <a:chOff x="0" y="0"/>
            <a:chExt cx="812800" cy="812800"/>
          </a:xfrm>
        </p:grpSpPr>
        <p:sp>
          <p:nvSpPr>
            <p:cNvPr id="11" name="Freeform 11">
              <a:extLst>
                <a:ext uri="{FF2B5EF4-FFF2-40B4-BE49-F238E27FC236}">
                  <a16:creationId xmlns:a16="http://schemas.microsoft.com/office/drawing/2014/main" id="{543A9D9F-9DF0-3362-2EB1-A9E0454F2A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A5CC9DA7-8B9D-59A7-1086-8CA3B8B102B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a:extLst>
              <a:ext uri="{FF2B5EF4-FFF2-40B4-BE49-F238E27FC236}">
                <a16:creationId xmlns:a16="http://schemas.microsoft.com/office/drawing/2014/main" id="{96B8D92D-8E64-4DA3-F4C2-D90191A588B5}"/>
              </a:ext>
            </a:extLst>
          </p:cNvPr>
          <p:cNvGrpSpPr/>
          <p:nvPr/>
        </p:nvGrpSpPr>
        <p:grpSpPr>
          <a:xfrm>
            <a:off x="8057810" y="8094092"/>
            <a:ext cx="474357" cy="474357"/>
            <a:chOff x="0" y="0"/>
            <a:chExt cx="812800" cy="812800"/>
          </a:xfrm>
        </p:grpSpPr>
        <p:sp>
          <p:nvSpPr>
            <p:cNvPr id="14" name="Freeform 14">
              <a:extLst>
                <a:ext uri="{FF2B5EF4-FFF2-40B4-BE49-F238E27FC236}">
                  <a16:creationId xmlns:a16="http://schemas.microsoft.com/office/drawing/2014/main" id="{C9F10F56-1B07-3CC2-2CFD-645DB384F5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5" name="TextBox 15">
              <a:extLst>
                <a:ext uri="{FF2B5EF4-FFF2-40B4-BE49-F238E27FC236}">
                  <a16:creationId xmlns:a16="http://schemas.microsoft.com/office/drawing/2014/main" id="{70877E76-38FF-FC33-FA51-40AB68BE9CB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0CB86E9E-0E20-889D-8DEE-266A31FECDBE}"/>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216E6AA5-68FC-123B-4A73-952B671C5A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CC2BE0D9-F5B0-130B-C3BB-A059A065859C}"/>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2" name="TextBox 22">
            <a:extLst>
              <a:ext uri="{FF2B5EF4-FFF2-40B4-BE49-F238E27FC236}">
                <a16:creationId xmlns:a16="http://schemas.microsoft.com/office/drawing/2014/main" id="{67E3904B-E2C0-629D-EB3E-8301FC05681E}"/>
              </a:ext>
            </a:extLst>
          </p:cNvPr>
          <p:cNvSpPr txBox="1"/>
          <p:nvPr/>
        </p:nvSpPr>
        <p:spPr>
          <a:xfrm>
            <a:off x="1389458" y="5116423"/>
            <a:ext cx="11429530" cy="830997"/>
          </a:xfrm>
          <a:prstGeom prst="rect">
            <a:avLst/>
          </a:prstGeom>
        </p:spPr>
        <p:txBody>
          <a:bodyPr wrap="square" lIns="0" tIns="0" rIns="0" bIns="0" rtlCol="0" anchor="t">
            <a:spAutoFit/>
          </a:bodyPr>
          <a:lstStyle/>
          <a:p>
            <a:r>
              <a:rPr lang="en-US" sz="5400" b="1" dirty="0"/>
              <a:t>IT22587756 Ravindu S.L</a:t>
            </a:r>
            <a:endParaRPr lang="en-US" sz="5000" b="1" dirty="0">
              <a:latin typeface="Poppins Light" panose="00000400000000000000" pitchFamily="2" charset="0"/>
              <a:cs typeface="Poppins Light" panose="00000400000000000000" pitchFamily="2" charset="0"/>
            </a:endParaRPr>
          </a:p>
        </p:txBody>
      </p:sp>
      <p:sp>
        <p:nvSpPr>
          <p:cNvPr id="27" name="TextBox 27">
            <a:extLst>
              <a:ext uri="{FF2B5EF4-FFF2-40B4-BE49-F238E27FC236}">
                <a16:creationId xmlns:a16="http://schemas.microsoft.com/office/drawing/2014/main" id="{59A10D6B-3C61-2B98-AF71-03D4D2533A3C}"/>
              </a:ext>
            </a:extLst>
          </p:cNvPr>
          <p:cNvSpPr txBox="1"/>
          <p:nvPr/>
        </p:nvSpPr>
        <p:spPr>
          <a:xfrm>
            <a:off x="1337711" y="6460926"/>
            <a:ext cx="15612577" cy="615553"/>
          </a:xfrm>
          <a:prstGeom prst="rect">
            <a:avLst/>
          </a:prstGeom>
        </p:spPr>
        <p:txBody>
          <a:bodyPr wrap="square" lIns="0" tIns="0" rIns="0" bIns="0" rtlCol="0" anchor="t">
            <a:spAutoFit/>
          </a:bodyPr>
          <a:lstStyle/>
          <a:p>
            <a:pPr>
              <a:spcBef>
                <a:spcPct val="0"/>
              </a:spcBef>
            </a:pPr>
            <a:r>
              <a:rPr lang="en-US" sz="4000" b="1" dirty="0"/>
              <a:t>Early Risk Prediction for Diabetic Management</a:t>
            </a:r>
            <a:endParaRPr lang="en-US" sz="4000" b="1" dirty="0">
              <a:solidFill>
                <a:srgbClr val="FFFFFF"/>
              </a:solidFill>
              <a:latin typeface="Poppins"/>
              <a:ea typeface="Poppins"/>
              <a:cs typeface="Poppins"/>
              <a:sym typeface="Poppins"/>
            </a:endParaRPr>
          </a:p>
        </p:txBody>
      </p:sp>
      <p:sp>
        <p:nvSpPr>
          <p:cNvPr id="30" name="TextBox 29">
            <a:extLst>
              <a:ext uri="{FF2B5EF4-FFF2-40B4-BE49-F238E27FC236}">
                <a16:creationId xmlns:a16="http://schemas.microsoft.com/office/drawing/2014/main" id="{F13B059E-3AB5-B492-4A89-709312C6D089}"/>
              </a:ext>
            </a:extLst>
          </p:cNvPr>
          <p:cNvSpPr txBox="1"/>
          <p:nvPr/>
        </p:nvSpPr>
        <p:spPr>
          <a:xfrm>
            <a:off x="1121436" y="7362000"/>
            <a:ext cx="10250128" cy="827919"/>
          </a:xfrm>
          <a:prstGeom prst="rect">
            <a:avLst/>
          </a:prstGeom>
          <a:noFill/>
        </p:spPr>
        <p:txBody>
          <a:bodyPr wrap="square">
            <a:spAutoFit/>
          </a:bodyPr>
          <a:lstStyle/>
          <a:p>
            <a:pPr>
              <a:lnSpc>
                <a:spcPct val="130008"/>
              </a:lnSpc>
            </a:pPr>
            <a:r>
              <a:rPr lang="en-US" sz="4000" dirty="0">
                <a:solidFill>
                  <a:srgbClr val="242424"/>
                </a:solidFill>
                <a:latin typeface="+mj-lt"/>
                <a:ea typeface="Arial"/>
                <a:cs typeface="Arial"/>
                <a:sym typeface="Arial"/>
              </a:rPr>
              <a:t>Specialization: Information Technology</a:t>
            </a:r>
            <a:endParaRPr lang="en-US" sz="4000" dirty="0">
              <a:latin typeface="+mj-lt"/>
            </a:endParaRPr>
          </a:p>
        </p:txBody>
      </p:sp>
      <p:grpSp>
        <p:nvGrpSpPr>
          <p:cNvPr id="28" name="Group 27">
            <a:extLst>
              <a:ext uri="{FF2B5EF4-FFF2-40B4-BE49-F238E27FC236}">
                <a16:creationId xmlns:a16="http://schemas.microsoft.com/office/drawing/2014/main" id="{0480F672-C098-84BF-0DCF-503B91CC67D1}"/>
              </a:ext>
            </a:extLst>
          </p:cNvPr>
          <p:cNvGrpSpPr/>
          <p:nvPr/>
        </p:nvGrpSpPr>
        <p:grpSpPr>
          <a:xfrm>
            <a:off x="-4" y="9454116"/>
            <a:ext cx="3666038" cy="811179"/>
            <a:chOff x="0" y="0"/>
            <a:chExt cx="1025531" cy="226918"/>
          </a:xfrm>
        </p:grpSpPr>
        <p:sp>
          <p:nvSpPr>
            <p:cNvPr id="29" name="Freeform 13">
              <a:extLst>
                <a:ext uri="{FF2B5EF4-FFF2-40B4-BE49-F238E27FC236}">
                  <a16:creationId xmlns:a16="http://schemas.microsoft.com/office/drawing/2014/main" id="{170ECA09-E86A-41C7-DF1E-E89EF7512D0B}"/>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9"/>
              <a:stretch>
                <a:fillRect l="-921" r="-921"/>
              </a:stretch>
            </a:blipFill>
          </p:spPr>
          <p:txBody>
            <a:bodyPr/>
            <a:lstStyle/>
            <a:p>
              <a:endParaRPr lang="en-US"/>
            </a:p>
          </p:txBody>
        </p:sp>
      </p:grpSp>
      <p:sp>
        <p:nvSpPr>
          <p:cNvPr id="34" name="TextBox 33">
            <a:extLst>
              <a:ext uri="{FF2B5EF4-FFF2-40B4-BE49-F238E27FC236}">
                <a16:creationId xmlns:a16="http://schemas.microsoft.com/office/drawing/2014/main" id="{76A65D22-88F4-BD74-9D9E-62500182C71B}"/>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IT22587756 | Ravindu S.L | 25-26J-371</a:t>
            </a:r>
            <a:endParaRPr lang="en-US" sz="2400" dirty="0">
              <a:effectLst/>
            </a:endParaRPr>
          </a:p>
        </p:txBody>
      </p:sp>
      <p:pic>
        <p:nvPicPr>
          <p:cNvPr id="40" name="Picture 39">
            <a:extLst>
              <a:ext uri="{FF2B5EF4-FFF2-40B4-BE49-F238E27FC236}">
                <a16:creationId xmlns:a16="http://schemas.microsoft.com/office/drawing/2014/main" id="{B49B7C93-978B-DCC0-38B7-D32C07586F36}"/>
              </a:ext>
            </a:extLst>
          </p:cNvPr>
          <p:cNvPicPr>
            <a:picLocks noChangeAspect="1"/>
          </p:cNvPicPr>
          <p:nvPr/>
        </p:nvPicPr>
        <p:blipFill>
          <a:blip r:embed="rId10">
            <a:extLst>
              <a:ext uri="{28A0092B-C50C-407E-A947-70E740481C1C}">
                <a14:useLocalDpi xmlns:a14="http://schemas.microsoft.com/office/drawing/2010/main" val="0"/>
              </a:ext>
            </a:extLst>
          </a:blip>
          <a:srcRect l="18499" t="24946" r="25879" b="24241"/>
          <a:stretch>
            <a:fillRect/>
          </a:stretch>
        </p:blipFill>
        <p:spPr>
          <a:xfrm>
            <a:off x="14955415" y="73499"/>
            <a:ext cx="3276323" cy="3752575"/>
          </a:xfrm>
          <a:prstGeom prst="rect">
            <a:avLst/>
          </a:prstGeom>
        </p:spPr>
      </p:pic>
    </p:spTree>
    <p:extLst>
      <p:ext uri="{BB962C8B-B14F-4D97-AF65-F5344CB8AC3E}">
        <p14:creationId xmlns:p14="http://schemas.microsoft.com/office/powerpoint/2010/main" val="3056124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F966-ACB6-A6A7-3E09-9C6781B5F3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4879A8-F6E9-A7E6-509A-84756836A0A3}"/>
              </a:ext>
            </a:extLst>
          </p:cNvPr>
          <p:cNvSpPr/>
          <p:nvPr/>
        </p:nvSpPr>
        <p:spPr>
          <a:xfrm rot="-4817078" flipH="1">
            <a:off x="7584624" y="-5318040"/>
            <a:ext cx="5404519" cy="10214726"/>
          </a:xfrm>
          <a:custGeom>
            <a:avLst/>
            <a:gdLst/>
            <a:ahLst/>
            <a:cxnLst/>
            <a:rect l="l" t="t" r="r" b="b"/>
            <a:pathLst>
              <a:path w="5404519" h="10214726">
                <a:moveTo>
                  <a:pt x="5404519" y="0"/>
                </a:moveTo>
                <a:lnTo>
                  <a:pt x="0" y="0"/>
                </a:lnTo>
                <a:lnTo>
                  <a:pt x="0" y="10214727"/>
                </a:lnTo>
                <a:lnTo>
                  <a:pt x="5404519" y="10214727"/>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4D973E81-4094-FBAF-FECD-8CFF226BACD9}"/>
              </a:ext>
            </a:extLst>
          </p:cNvPr>
          <p:cNvGrpSpPr/>
          <p:nvPr/>
        </p:nvGrpSpPr>
        <p:grpSpPr>
          <a:xfrm>
            <a:off x="574633" y="6403573"/>
            <a:ext cx="300229" cy="300229"/>
            <a:chOff x="0" y="0"/>
            <a:chExt cx="812800" cy="812800"/>
          </a:xfrm>
        </p:grpSpPr>
        <p:sp>
          <p:nvSpPr>
            <p:cNvPr id="11" name="Freeform 11">
              <a:extLst>
                <a:ext uri="{FF2B5EF4-FFF2-40B4-BE49-F238E27FC236}">
                  <a16:creationId xmlns:a16="http://schemas.microsoft.com/office/drawing/2014/main" id="{34CE6F8E-6EC4-2978-05E1-9A7B4F93B4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3C89C171-AC89-37C8-B6E1-C126A6EBB34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a:extLst>
              <a:ext uri="{FF2B5EF4-FFF2-40B4-BE49-F238E27FC236}">
                <a16:creationId xmlns:a16="http://schemas.microsoft.com/office/drawing/2014/main" id="{542CA63D-B3C4-1131-231E-66E4A107627A}"/>
              </a:ext>
            </a:extLst>
          </p:cNvPr>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348AAB4D-A994-3754-B28D-F36D8E812F83}"/>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C07BFAFC-43C1-60C1-BB20-7B0EFC13DF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44975851-81CE-A730-22C5-2A7F8406E980}"/>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31" name="TextBox 31">
            <a:extLst>
              <a:ext uri="{FF2B5EF4-FFF2-40B4-BE49-F238E27FC236}">
                <a16:creationId xmlns:a16="http://schemas.microsoft.com/office/drawing/2014/main" id="{DF3CF4AB-5D26-9386-C109-D4C42C3399E4}"/>
              </a:ext>
            </a:extLst>
          </p:cNvPr>
          <p:cNvSpPr txBox="1"/>
          <p:nvPr/>
        </p:nvSpPr>
        <p:spPr>
          <a:xfrm>
            <a:off x="2588992" y="6865265"/>
            <a:ext cx="12496800" cy="2246128"/>
          </a:xfrm>
          <a:prstGeom prst="rect">
            <a:avLst/>
          </a:prstGeom>
        </p:spPr>
        <p:txBody>
          <a:bodyPr wrap="square" lIns="0" tIns="0" rIns="0" bIns="0" rtlCol="0" anchor="t">
            <a:spAutoFit/>
          </a:bodyPr>
          <a:lstStyle/>
          <a:p>
            <a:pPr marL="457200" indent="-457200">
              <a:lnSpc>
                <a:spcPts val="2944"/>
              </a:lnSpc>
              <a:spcBef>
                <a:spcPct val="0"/>
              </a:spcBef>
              <a:buFont typeface="Arial" panose="020B0604020202020204" pitchFamily="34" charset="0"/>
              <a:buChar char="•"/>
            </a:pPr>
            <a:r>
              <a:rPr lang="en-US" sz="3200" dirty="0"/>
              <a:t>The solution uses multiple health factors and an </a:t>
            </a:r>
            <a:r>
              <a:rPr lang="en-US" sz="3200" dirty="0" err="1"/>
              <a:t>XGBoost</a:t>
            </a:r>
            <a:r>
              <a:rPr lang="en-US" sz="3200" dirty="0"/>
              <a:t> model to assess diabetes risk without lab tests or medical devices. </a:t>
            </a:r>
          </a:p>
          <a:p>
            <a:pPr marL="457200" indent="-457200">
              <a:lnSpc>
                <a:spcPts val="2944"/>
              </a:lnSpc>
              <a:spcBef>
                <a:spcPct val="0"/>
              </a:spcBef>
              <a:buFont typeface="Arial" panose="020B0604020202020204" pitchFamily="34" charset="0"/>
              <a:buChar char="•"/>
            </a:pPr>
            <a:endParaRPr lang="en-US" sz="3200" dirty="0"/>
          </a:p>
          <a:p>
            <a:pPr marL="457200" indent="-457200">
              <a:lnSpc>
                <a:spcPts val="2944"/>
              </a:lnSpc>
              <a:spcBef>
                <a:spcPct val="0"/>
              </a:spcBef>
              <a:buFont typeface="Arial" panose="020B0604020202020204" pitchFamily="34" charset="0"/>
              <a:buChar char="•"/>
            </a:pPr>
            <a:r>
              <a:rPr lang="en-US" sz="3200" dirty="0"/>
              <a:t>This makes screening easy and accessible, supports early detection and provides stage-based guidance for timely prevention.</a:t>
            </a:r>
          </a:p>
          <a:p>
            <a:pPr marL="457200" indent="-457200">
              <a:lnSpc>
                <a:spcPts val="2944"/>
              </a:lnSpc>
              <a:spcBef>
                <a:spcPct val="0"/>
              </a:spcBef>
              <a:buFont typeface="Arial" panose="020B0604020202020204" pitchFamily="34" charset="0"/>
              <a:buChar char="•"/>
            </a:pPr>
            <a:endParaRPr lang="en-US" sz="3000" spc="-29" dirty="0">
              <a:solidFill>
                <a:srgbClr val="171C20"/>
              </a:solidFill>
              <a:latin typeface="Poppins"/>
              <a:ea typeface="Poppins"/>
              <a:cs typeface="Poppins"/>
              <a:sym typeface="Poppins"/>
            </a:endParaRPr>
          </a:p>
        </p:txBody>
      </p:sp>
      <p:sp>
        <p:nvSpPr>
          <p:cNvPr id="46" name="TextBox 45">
            <a:extLst>
              <a:ext uri="{FF2B5EF4-FFF2-40B4-BE49-F238E27FC236}">
                <a16:creationId xmlns:a16="http://schemas.microsoft.com/office/drawing/2014/main" id="{676A9018-9235-3F61-35AD-21B56097B02B}"/>
              </a:ext>
            </a:extLst>
          </p:cNvPr>
          <p:cNvSpPr txBox="1"/>
          <p:nvPr/>
        </p:nvSpPr>
        <p:spPr>
          <a:xfrm>
            <a:off x="1409352" y="1560925"/>
            <a:ext cx="6178416" cy="553998"/>
          </a:xfrm>
          <a:prstGeom prst="rect">
            <a:avLst/>
          </a:prstGeom>
          <a:noFill/>
        </p:spPr>
        <p:txBody>
          <a:bodyPr wrap="square">
            <a:spAutoFit/>
          </a:bodyPr>
          <a:lstStyle/>
          <a:p>
            <a:r>
              <a:rPr lang="en-US" sz="3000" b="1" dirty="0">
                <a:solidFill>
                  <a:srgbClr val="85C9B4"/>
                </a:solidFill>
                <a:latin typeface="Poppins Medium" panose="00000600000000000000" pitchFamily="2" charset="0"/>
                <a:cs typeface="Poppins Medium" panose="00000600000000000000" pitchFamily="2" charset="0"/>
              </a:rPr>
              <a:t>Problem Statement</a:t>
            </a:r>
          </a:p>
        </p:txBody>
      </p:sp>
      <p:sp>
        <p:nvSpPr>
          <p:cNvPr id="19" name="TextBox 18">
            <a:extLst>
              <a:ext uri="{FF2B5EF4-FFF2-40B4-BE49-F238E27FC236}">
                <a16:creationId xmlns:a16="http://schemas.microsoft.com/office/drawing/2014/main" id="{682B4C5A-8015-9BB1-45DB-5C150DA61452}"/>
              </a:ext>
            </a:extLst>
          </p:cNvPr>
          <p:cNvSpPr txBox="1"/>
          <p:nvPr/>
        </p:nvSpPr>
        <p:spPr>
          <a:xfrm>
            <a:off x="1425062" y="565773"/>
            <a:ext cx="16251707" cy="830997"/>
          </a:xfrm>
          <a:prstGeom prst="rect">
            <a:avLst/>
          </a:prstGeom>
          <a:noFill/>
        </p:spPr>
        <p:txBody>
          <a:bodyPr wrap="square">
            <a:spAutoFit/>
          </a:bodyPr>
          <a:lstStyle/>
          <a:p>
            <a:pPr>
              <a:spcBef>
                <a:spcPct val="0"/>
              </a:spcBef>
            </a:pPr>
            <a:r>
              <a:rPr lang="en-US" sz="4800" b="1" dirty="0"/>
              <a:t>Early Risk Prediction for Diabetic Management</a:t>
            </a:r>
            <a:endParaRPr lang="en-US" sz="4800" b="1" dirty="0">
              <a:solidFill>
                <a:srgbClr val="FFFFFF"/>
              </a:solidFill>
              <a:latin typeface="Poppins"/>
              <a:ea typeface="Poppins"/>
              <a:cs typeface="Poppins"/>
              <a:sym typeface="Poppins"/>
            </a:endParaRPr>
          </a:p>
        </p:txBody>
      </p:sp>
      <p:sp>
        <p:nvSpPr>
          <p:cNvPr id="28" name="TextBox 24">
            <a:extLst>
              <a:ext uri="{FF2B5EF4-FFF2-40B4-BE49-F238E27FC236}">
                <a16:creationId xmlns:a16="http://schemas.microsoft.com/office/drawing/2014/main" id="{7E9BA8BE-8043-6D4C-7285-991E8283DB23}"/>
              </a:ext>
            </a:extLst>
          </p:cNvPr>
          <p:cNvSpPr txBox="1"/>
          <p:nvPr/>
        </p:nvSpPr>
        <p:spPr>
          <a:xfrm>
            <a:off x="1524001" y="5652444"/>
            <a:ext cx="11353799"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How the Solution Addresses the Sub-Problem</a:t>
            </a:r>
          </a:p>
        </p:txBody>
      </p:sp>
      <p:sp>
        <p:nvSpPr>
          <p:cNvPr id="13" name="TextBox 31">
            <a:extLst>
              <a:ext uri="{FF2B5EF4-FFF2-40B4-BE49-F238E27FC236}">
                <a16:creationId xmlns:a16="http://schemas.microsoft.com/office/drawing/2014/main" id="{AC73CDE0-855E-8773-7BD9-DC73BCF5BBD8}"/>
              </a:ext>
            </a:extLst>
          </p:cNvPr>
          <p:cNvSpPr txBox="1"/>
          <p:nvPr/>
        </p:nvSpPr>
        <p:spPr>
          <a:xfrm>
            <a:off x="2510985" y="2446648"/>
            <a:ext cx="12652815" cy="2983766"/>
          </a:xfrm>
          <a:prstGeom prst="rect">
            <a:avLst/>
          </a:prstGeom>
        </p:spPr>
        <p:txBody>
          <a:bodyPr wrap="square" lIns="0" tIns="0" rIns="0" bIns="0" rtlCol="0" anchor="t">
            <a:spAutoFit/>
          </a:bodyPr>
          <a:lstStyle/>
          <a:p>
            <a:pPr marL="457200" indent="-457200">
              <a:lnSpc>
                <a:spcPts val="2944"/>
              </a:lnSpc>
              <a:spcBef>
                <a:spcPct val="0"/>
              </a:spcBef>
              <a:buFont typeface="Arial" panose="020B0604020202020204" pitchFamily="34" charset="0"/>
              <a:buChar char="•"/>
            </a:pPr>
            <a:r>
              <a:rPr lang="en-US" sz="3200" dirty="0"/>
              <a:t>Diabetes is increasing rapidly in Sri Lanka. (adults (23%)</a:t>
            </a:r>
          </a:p>
          <a:p>
            <a:pPr marL="457200" indent="-457200">
              <a:lnSpc>
                <a:spcPts val="2944"/>
              </a:lnSpc>
              <a:spcBef>
                <a:spcPct val="0"/>
              </a:spcBef>
              <a:buFont typeface="Arial" panose="020B0604020202020204" pitchFamily="34" charset="0"/>
              <a:buChar char="•"/>
            </a:pPr>
            <a:endParaRPr lang="en-US" sz="3200" dirty="0"/>
          </a:p>
          <a:p>
            <a:pPr marL="457200" indent="-457200">
              <a:lnSpc>
                <a:spcPts val="2944"/>
              </a:lnSpc>
              <a:spcBef>
                <a:spcPct val="0"/>
              </a:spcBef>
              <a:buFont typeface="Arial" panose="020B0604020202020204" pitchFamily="34" charset="0"/>
              <a:buChar char="•"/>
            </a:pPr>
            <a:r>
              <a:rPr lang="en-US" sz="3200" dirty="0"/>
              <a:t>Many people are diagnosed only after complications begin.</a:t>
            </a:r>
          </a:p>
          <a:p>
            <a:pPr marL="457200" indent="-457200">
              <a:lnSpc>
                <a:spcPts val="2944"/>
              </a:lnSpc>
              <a:spcBef>
                <a:spcPct val="0"/>
              </a:spcBef>
              <a:buFont typeface="Arial" panose="020B0604020202020204" pitchFamily="34" charset="0"/>
              <a:buChar char="•"/>
            </a:pPr>
            <a:endParaRPr lang="en-US" sz="3200" spc="-29" dirty="0">
              <a:solidFill>
                <a:srgbClr val="171C20"/>
              </a:solidFill>
              <a:ea typeface="Poppins"/>
              <a:cs typeface="Poppins"/>
              <a:sym typeface="Poppins"/>
            </a:endParaRPr>
          </a:p>
          <a:p>
            <a:pPr marL="457200" indent="-457200">
              <a:lnSpc>
                <a:spcPts val="2944"/>
              </a:lnSpc>
              <a:spcBef>
                <a:spcPct val="0"/>
              </a:spcBef>
              <a:buFont typeface="Arial" panose="020B0604020202020204" pitchFamily="34" charset="0"/>
              <a:buChar char="•"/>
            </a:pPr>
            <a:r>
              <a:rPr lang="en-US" sz="3200" spc="-29" dirty="0">
                <a:solidFill>
                  <a:srgbClr val="171C20"/>
                </a:solidFill>
                <a:ea typeface="Poppins"/>
                <a:cs typeface="Poppins"/>
                <a:sym typeface="Poppins"/>
              </a:rPr>
              <a:t>People lack timely and guidance to prevent diabetes.</a:t>
            </a:r>
          </a:p>
          <a:p>
            <a:pPr marL="457200" indent="-457200">
              <a:lnSpc>
                <a:spcPts val="2944"/>
              </a:lnSpc>
              <a:spcBef>
                <a:spcPct val="0"/>
              </a:spcBef>
              <a:buFont typeface="Arial" panose="020B0604020202020204" pitchFamily="34" charset="0"/>
              <a:buChar char="•"/>
            </a:pPr>
            <a:endParaRPr lang="en-US" sz="3200" spc="-29" dirty="0">
              <a:solidFill>
                <a:srgbClr val="171C20"/>
              </a:solidFill>
              <a:ea typeface="Poppins"/>
              <a:cs typeface="Poppins"/>
              <a:sym typeface="Poppins"/>
            </a:endParaRPr>
          </a:p>
          <a:p>
            <a:pPr marL="457200" indent="-457200">
              <a:lnSpc>
                <a:spcPts val="2944"/>
              </a:lnSpc>
              <a:spcBef>
                <a:spcPct val="0"/>
              </a:spcBef>
              <a:buFont typeface="Arial" panose="020B0604020202020204" pitchFamily="34" charset="0"/>
              <a:buChar char="•"/>
            </a:pPr>
            <a:r>
              <a:rPr lang="en-US" sz="3200" spc="-29" dirty="0">
                <a:solidFill>
                  <a:srgbClr val="171C20"/>
                </a:solidFill>
                <a:ea typeface="Poppins"/>
                <a:cs typeface="Poppins"/>
                <a:sym typeface="Poppins"/>
              </a:rPr>
              <a:t>A simple, low-cost solution is needed for early risk identification and prevention.</a:t>
            </a:r>
          </a:p>
        </p:txBody>
      </p:sp>
      <p:grpSp>
        <p:nvGrpSpPr>
          <p:cNvPr id="15" name="Group 14">
            <a:extLst>
              <a:ext uri="{FF2B5EF4-FFF2-40B4-BE49-F238E27FC236}">
                <a16:creationId xmlns:a16="http://schemas.microsoft.com/office/drawing/2014/main" id="{9CAFE00C-8A3D-DE3C-C404-E08FCC07CCAD}"/>
              </a:ext>
            </a:extLst>
          </p:cNvPr>
          <p:cNvGrpSpPr/>
          <p:nvPr/>
        </p:nvGrpSpPr>
        <p:grpSpPr>
          <a:xfrm>
            <a:off x="15240" y="9480549"/>
            <a:ext cx="3666038" cy="811179"/>
            <a:chOff x="0" y="0"/>
            <a:chExt cx="1025531" cy="226918"/>
          </a:xfrm>
        </p:grpSpPr>
        <p:sp>
          <p:nvSpPr>
            <p:cNvPr id="17" name="Freeform 13">
              <a:extLst>
                <a:ext uri="{FF2B5EF4-FFF2-40B4-BE49-F238E27FC236}">
                  <a16:creationId xmlns:a16="http://schemas.microsoft.com/office/drawing/2014/main" id="{1FB87814-3488-72BA-C648-00495BB2126E}"/>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6"/>
              <a:stretch>
                <a:fillRect l="-921" r="-921"/>
              </a:stretch>
            </a:blipFill>
          </p:spPr>
          <p:txBody>
            <a:bodyPr/>
            <a:lstStyle/>
            <a:p>
              <a:endParaRPr lang="en-US"/>
            </a:p>
          </p:txBody>
        </p:sp>
      </p:grpSp>
      <p:sp>
        <p:nvSpPr>
          <p:cNvPr id="18" name="TextBox 17">
            <a:extLst>
              <a:ext uri="{FF2B5EF4-FFF2-40B4-BE49-F238E27FC236}">
                <a16:creationId xmlns:a16="http://schemas.microsoft.com/office/drawing/2014/main" id="{CFCBD308-222A-EE7A-FDDB-4D8D580A7109}"/>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IT22587756 | Ravindu S.L | 25-26J-371</a:t>
            </a:r>
            <a:endParaRPr lang="en-US" sz="2400" dirty="0">
              <a:effectLst/>
            </a:endParaRPr>
          </a:p>
        </p:txBody>
      </p:sp>
      <p:sp>
        <p:nvSpPr>
          <p:cNvPr id="26" name="TextBox 25">
            <a:extLst>
              <a:ext uri="{FF2B5EF4-FFF2-40B4-BE49-F238E27FC236}">
                <a16:creationId xmlns:a16="http://schemas.microsoft.com/office/drawing/2014/main" id="{2E636B8D-1287-CA20-1AB6-B39C2752D88D}"/>
              </a:ext>
            </a:extLst>
          </p:cNvPr>
          <p:cNvSpPr txBox="1"/>
          <p:nvPr/>
        </p:nvSpPr>
        <p:spPr>
          <a:xfrm>
            <a:off x="4572000" y="3123684"/>
            <a:ext cx="9144000"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2871165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25F1F-40F4-DE16-E559-5AEAA41A31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91002D-4B7D-9761-538B-229C75A1B901}"/>
              </a:ext>
            </a:extLst>
          </p:cNvPr>
          <p:cNvSpPr/>
          <p:nvPr/>
        </p:nvSpPr>
        <p:spPr>
          <a:xfrm rot="-5931620" flipH="1">
            <a:off x="5277259" y="-64661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5FC937AD-081A-918B-7161-5CA36CFB217D}"/>
              </a:ext>
            </a:extLst>
          </p:cNvPr>
          <p:cNvGrpSpPr/>
          <p:nvPr/>
        </p:nvGrpSpPr>
        <p:grpSpPr>
          <a:xfrm>
            <a:off x="12283342" y="-1659732"/>
            <a:ext cx="7847157" cy="7847157"/>
            <a:chOff x="0" y="0"/>
            <a:chExt cx="812800" cy="812800"/>
          </a:xfrm>
        </p:grpSpPr>
        <p:sp>
          <p:nvSpPr>
            <p:cNvPr id="4" name="Freeform 4">
              <a:extLst>
                <a:ext uri="{FF2B5EF4-FFF2-40B4-BE49-F238E27FC236}">
                  <a16:creationId xmlns:a16="http://schemas.microsoft.com/office/drawing/2014/main" id="{52F307C3-E9FB-EDAB-930D-495EBC94C8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a:extLst>
                <a:ext uri="{FF2B5EF4-FFF2-40B4-BE49-F238E27FC236}">
                  <a16:creationId xmlns:a16="http://schemas.microsoft.com/office/drawing/2014/main" id="{488FCAD6-4F50-78DC-CBBB-AB7AA1A12D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a:extLst>
              <a:ext uri="{FF2B5EF4-FFF2-40B4-BE49-F238E27FC236}">
                <a16:creationId xmlns:a16="http://schemas.microsoft.com/office/drawing/2014/main" id="{16BC719E-CB1E-E936-7792-76CEC11822E1}"/>
              </a:ext>
            </a:extLst>
          </p:cNvPr>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5" name="Group 15">
            <a:extLst>
              <a:ext uri="{FF2B5EF4-FFF2-40B4-BE49-F238E27FC236}">
                <a16:creationId xmlns:a16="http://schemas.microsoft.com/office/drawing/2014/main" id="{09C9C782-20F0-43C1-062D-4794D82CB220}"/>
              </a:ext>
            </a:extLst>
          </p:cNvPr>
          <p:cNvGrpSpPr/>
          <p:nvPr/>
        </p:nvGrpSpPr>
        <p:grpSpPr>
          <a:xfrm>
            <a:off x="11267812" y="1182423"/>
            <a:ext cx="300229" cy="300229"/>
            <a:chOff x="0" y="0"/>
            <a:chExt cx="812800" cy="812800"/>
          </a:xfrm>
        </p:grpSpPr>
        <p:sp>
          <p:nvSpPr>
            <p:cNvPr id="16" name="Freeform 16">
              <a:extLst>
                <a:ext uri="{FF2B5EF4-FFF2-40B4-BE49-F238E27FC236}">
                  <a16:creationId xmlns:a16="http://schemas.microsoft.com/office/drawing/2014/main" id="{4579AE95-0F5E-6482-2650-796B6F6C4B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7" name="TextBox 17">
              <a:extLst>
                <a:ext uri="{FF2B5EF4-FFF2-40B4-BE49-F238E27FC236}">
                  <a16:creationId xmlns:a16="http://schemas.microsoft.com/office/drawing/2014/main" id="{A9553961-194A-E939-7BC3-9E956830D68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a:extLst>
              <a:ext uri="{FF2B5EF4-FFF2-40B4-BE49-F238E27FC236}">
                <a16:creationId xmlns:a16="http://schemas.microsoft.com/office/drawing/2014/main" id="{A294D8BB-0E4E-9FE6-EF02-2E2F5C2322A9}"/>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C88BE8CA-E4EB-C246-0B13-BA87D88537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08B5C28A-C615-5278-8911-AC8E8D43ACFE}"/>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8" name="TextBox 17">
            <a:extLst>
              <a:ext uri="{FF2B5EF4-FFF2-40B4-BE49-F238E27FC236}">
                <a16:creationId xmlns:a16="http://schemas.microsoft.com/office/drawing/2014/main" id="{1F54BAE8-F984-A4BF-B357-D934FB9E4E49}"/>
              </a:ext>
            </a:extLst>
          </p:cNvPr>
          <p:cNvSpPr txBox="1"/>
          <p:nvPr/>
        </p:nvSpPr>
        <p:spPr>
          <a:xfrm>
            <a:off x="846715" y="500410"/>
            <a:ext cx="15327246" cy="769441"/>
          </a:xfrm>
          <a:prstGeom prst="rect">
            <a:avLst/>
          </a:prstGeom>
          <a:noFill/>
        </p:spPr>
        <p:txBody>
          <a:bodyPr wrap="square">
            <a:spAutoFit/>
          </a:bodyPr>
          <a:lstStyle/>
          <a:p>
            <a:pPr>
              <a:spcBef>
                <a:spcPct val="0"/>
              </a:spcBef>
            </a:pPr>
            <a:r>
              <a:rPr lang="en-US" sz="4400" b="1" dirty="0"/>
              <a:t>Early Risk Prediction for Diabetic Management</a:t>
            </a:r>
            <a:endParaRPr lang="en-US" sz="4400" b="1" dirty="0">
              <a:solidFill>
                <a:srgbClr val="FFFFFF"/>
              </a:solidFill>
              <a:latin typeface="Poppins"/>
              <a:ea typeface="Poppins"/>
              <a:cs typeface="Poppins"/>
              <a:sym typeface="Poppins"/>
            </a:endParaRPr>
          </a:p>
        </p:txBody>
      </p:sp>
      <p:sp>
        <p:nvSpPr>
          <p:cNvPr id="34" name="TextBox 24">
            <a:extLst>
              <a:ext uri="{FF2B5EF4-FFF2-40B4-BE49-F238E27FC236}">
                <a16:creationId xmlns:a16="http://schemas.microsoft.com/office/drawing/2014/main" id="{7AFF776D-FC15-3742-C9C9-E871176F4173}"/>
              </a:ext>
            </a:extLst>
          </p:cNvPr>
          <p:cNvSpPr txBox="1"/>
          <p:nvPr/>
        </p:nvSpPr>
        <p:spPr>
          <a:xfrm>
            <a:off x="860896" y="1530630"/>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User Requirements Addressed by the Solution</a:t>
            </a:r>
          </a:p>
        </p:txBody>
      </p:sp>
      <p:sp>
        <p:nvSpPr>
          <p:cNvPr id="35" name="TextBox 25">
            <a:extLst>
              <a:ext uri="{FF2B5EF4-FFF2-40B4-BE49-F238E27FC236}">
                <a16:creationId xmlns:a16="http://schemas.microsoft.com/office/drawing/2014/main" id="{859615A7-B6D2-24CC-3508-D6BDBADE7A00}"/>
              </a:ext>
            </a:extLst>
          </p:cNvPr>
          <p:cNvSpPr txBox="1"/>
          <p:nvPr/>
        </p:nvSpPr>
        <p:spPr>
          <a:xfrm>
            <a:off x="860896" y="2534067"/>
            <a:ext cx="10925270" cy="2708434"/>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t>Accessible screening without medical devices or laboratory tests</a:t>
            </a:r>
          </a:p>
          <a:p>
            <a:pPr marL="457200" indent="-457200">
              <a:lnSpc>
                <a:spcPct val="150000"/>
              </a:lnSpc>
              <a:buFont typeface="Arial" panose="020B0604020202020204" pitchFamily="34" charset="0"/>
              <a:buChar char="•"/>
            </a:pPr>
            <a:r>
              <a:rPr lang="en-US" sz="3200" dirty="0"/>
              <a:t>Clear three-tier risk classification for immediate understanding</a:t>
            </a:r>
          </a:p>
          <a:p>
            <a:pPr marL="457200" indent="-457200">
              <a:buFont typeface="Arial" panose="020B0604020202020204" pitchFamily="34" charset="0"/>
              <a:buChar char="•"/>
            </a:pPr>
            <a:r>
              <a:rPr lang="en-US" sz="3200" dirty="0"/>
              <a:t>Actionable medical recommendations for each stage with next steps</a:t>
            </a:r>
          </a:p>
        </p:txBody>
      </p:sp>
      <p:sp>
        <p:nvSpPr>
          <p:cNvPr id="43" name="TextBox 42">
            <a:extLst>
              <a:ext uri="{FF2B5EF4-FFF2-40B4-BE49-F238E27FC236}">
                <a16:creationId xmlns:a16="http://schemas.microsoft.com/office/drawing/2014/main" id="{CF67ADB0-A92F-AAE2-12AB-B13972D947D2}"/>
              </a:ext>
            </a:extLst>
          </p:cNvPr>
          <p:cNvSpPr txBox="1"/>
          <p:nvPr/>
        </p:nvSpPr>
        <p:spPr>
          <a:xfrm>
            <a:off x="814634" y="6488147"/>
            <a:ext cx="12474469" cy="429348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3000" dirty="0" err="1"/>
              <a:t>XGBoost</a:t>
            </a:r>
            <a:r>
              <a:rPr lang="en-US" sz="3000" dirty="0"/>
              <a:t> model optimization for max accuracy</a:t>
            </a:r>
          </a:p>
          <a:p>
            <a:pPr marL="457200" indent="-457200">
              <a:lnSpc>
                <a:spcPct val="150000"/>
              </a:lnSpc>
              <a:buFont typeface="Arial" panose="020B0604020202020204" pitchFamily="34" charset="0"/>
              <a:buChar char="•"/>
            </a:pPr>
            <a:r>
              <a:rPr lang="en-US" sz="3000" dirty="0"/>
              <a:t>Scalable design for adding new clinical variables</a:t>
            </a:r>
          </a:p>
          <a:p>
            <a:pPr marL="457200" indent="-457200">
              <a:lnSpc>
                <a:spcPct val="150000"/>
              </a:lnSpc>
              <a:buFont typeface="Arial" panose="020B0604020202020204" pitchFamily="34" charset="0"/>
              <a:buChar char="•"/>
            </a:pPr>
            <a:r>
              <a:rPr lang="en-US" sz="3200" dirty="0"/>
              <a:t>Scalable </a:t>
            </a:r>
            <a:r>
              <a:rPr lang="en-US" sz="3200" dirty="0" err="1"/>
              <a:t>FastAPI</a:t>
            </a:r>
            <a:r>
              <a:rPr lang="en-US" sz="3200" dirty="0"/>
              <a:t> backend enabling secure, reliable, and low-latency</a:t>
            </a:r>
          </a:p>
          <a:p>
            <a:pPr marL="457200" indent="-457200">
              <a:lnSpc>
                <a:spcPct val="150000"/>
              </a:lnSpc>
              <a:buFont typeface="Arial" panose="020B0604020202020204" pitchFamily="34" charset="0"/>
              <a:buChar char="•"/>
            </a:pPr>
            <a:endParaRPr lang="en-US" sz="3000" dirty="0"/>
          </a:p>
          <a:p>
            <a:endParaRPr lang="en-US" sz="3000" dirty="0"/>
          </a:p>
          <a:p>
            <a:endParaRPr lang="en-US" sz="3000" dirty="0"/>
          </a:p>
          <a:p>
            <a:pPr marL="457200" indent="-457200">
              <a:buFont typeface="Arial" panose="020B0604020202020204" pitchFamily="34" charset="0"/>
              <a:buChar char="•"/>
            </a:pPr>
            <a:endParaRPr lang="en-US" sz="3000" dirty="0"/>
          </a:p>
        </p:txBody>
      </p:sp>
      <p:sp>
        <p:nvSpPr>
          <p:cNvPr id="44" name="TextBox 24">
            <a:extLst>
              <a:ext uri="{FF2B5EF4-FFF2-40B4-BE49-F238E27FC236}">
                <a16:creationId xmlns:a16="http://schemas.microsoft.com/office/drawing/2014/main" id="{DE756956-1038-EF82-60C4-849D694007A4}"/>
              </a:ext>
            </a:extLst>
          </p:cNvPr>
          <p:cNvSpPr txBox="1"/>
          <p:nvPr/>
        </p:nvSpPr>
        <p:spPr>
          <a:xfrm>
            <a:off x="846715" y="5614235"/>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Design Excellence</a:t>
            </a:r>
          </a:p>
        </p:txBody>
      </p:sp>
      <p:grpSp>
        <p:nvGrpSpPr>
          <p:cNvPr id="8" name="Group 7">
            <a:extLst>
              <a:ext uri="{FF2B5EF4-FFF2-40B4-BE49-F238E27FC236}">
                <a16:creationId xmlns:a16="http://schemas.microsoft.com/office/drawing/2014/main" id="{701BD5C8-13C5-4D3D-D942-F604C1055F88}"/>
              </a:ext>
            </a:extLst>
          </p:cNvPr>
          <p:cNvGrpSpPr/>
          <p:nvPr/>
        </p:nvGrpSpPr>
        <p:grpSpPr>
          <a:xfrm>
            <a:off x="15240" y="9480549"/>
            <a:ext cx="3666038" cy="811179"/>
            <a:chOff x="0" y="0"/>
            <a:chExt cx="1025531" cy="226918"/>
          </a:xfrm>
        </p:grpSpPr>
        <p:sp>
          <p:nvSpPr>
            <p:cNvPr id="9" name="Freeform 13">
              <a:extLst>
                <a:ext uri="{FF2B5EF4-FFF2-40B4-BE49-F238E27FC236}">
                  <a16:creationId xmlns:a16="http://schemas.microsoft.com/office/drawing/2014/main" id="{3A21C509-D5B5-64C2-5D9F-92E7499882B2}"/>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6"/>
              <a:stretch>
                <a:fillRect l="-921" r="-921"/>
              </a:stretch>
            </a:blipFill>
          </p:spPr>
          <p:txBody>
            <a:bodyPr/>
            <a:lstStyle/>
            <a:p>
              <a:endParaRPr lang="en-US"/>
            </a:p>
          </p:txBody>
        </p:sp>
      </p:grpSp>
      <p:sp>
        <p:nvSpPr>
          <p:cNvPr id="10" name="TextBox 9">
            <a:extLst>
              <a:ext uri="{FF2B5EF4-FFF2-40B4-BE49-F238E27FC236}">
                <a16:creationId xmlns:a16="http://schemas.microsoft.com/office/drawing/2014/main" id="{E4B93E89-E999-6BDC-9F0F-14B57EECF882}"/>
              </a:ext>
            </a:extLst>
          </p:cNvPr>
          <p:cNvSpPr txBox="1"/>
          <p:nvPr/>
        </p:nvSpPr>
        <p:spPr>
          <a:xfrm>
            <a:off x="2655285" y="9766975"/>
            <a:ext cx="10247810" cy="461665"/>
          </a:xfrm>
          <a:prstGeom prst="rect">
            <a:avLst/>
          </a:prstGeom>
          <a:noFill/>
        </p:spPr>
        <p:txBody>
          <a:bodyPr wrap="square">
            <a:spAutoFit/>
          </a:bodyPr>
          <a:lstStyle/>
          <a:p>
            <a:pPr algn="ctr" rtl="0">
              <a:buNone/>
            </a:pPr>
            <a:r>
              <a:rPr lang="en-US" sz="2400" b="0" i="0" dirty="0">
                <a:solidFill>
                  <a:srgbClr val="000000"/>
                </a:solidFill>
                <a:effectLst/>
              </a:rPr>
              <a:t>IT22587756 | Ravindu S.L | 25-26J-371</a:t>
            </a:r>
            <a:endParaRPr lang="en-US" sz="2400" dirty="0">
              <a:effectLst/>
            </a:endParaRPr>
          </a:p>
        </p:txBody>
      </p:sp>
      <p:pic>
        <p:nvPicPr>
          <p:cNvPr id="7" name="Picture 6">
            <a:extLst>
              <a:ext uri="{FF2B5EF4-FFF2-40B4-BE49-F238E27FC236}">
                <a16:creationId xmlns:a16="http://schemas.microsoft.com/office/drawing/2014/main" id="{7E92230C-8243-A01C-8DCA-086C40CE4C19}"/>
              </a:ext>
            </a:extLst>
          </p:cNvPr>
          <p:cNvPicPr>
            <a:picLocks noChangeAspect="1"/>
          </p:cNvPicPr>
          <p:nvPr/>
        </p:nvPicPr>
        <p:blipFill>
          <a:blip r:embed="rId7"/>
          <a:stretch>
            <a:fillRect/>
          </a:stretch>
        </p:blipFill>
        <p:spPr>
          <a:xfrm>
            <a:off x="9336674" y="5118416"/>
            <a:ext cx="6649378" cy="2438740"/>
          </a:xfrm>
          <a:prstGeom prst="rect">
            <a:avLst/>
          </a:prstGeom>
        </p:spPr>
      </p:pic>
      <p:pic>
        <p:nvPicPr>
          <p:cNvPr id="13" name="Picture 12">
            <a:extLst>
              <a:ext uri="{FF2B5EF4-FFF2-40B4-BE49-F238E27FC236}">
                <a16:creationId xmlns:a16="http://schemas.microsoft.com/office/drawing/2014/main" id="{A50191DF-0CA5-A60F-9CC9-34E3F7BC542C}"/>
              </a:ext>
            </a:extLst>
          </p:cNvPr>
          <p:cNvPicPr>
            <a:picLocks noChangeAspect="1"/>
          </p:cNvPicPr>
          <p:nvPr/>
        </p:nvPicPr>
        <p:blipFill>
          <a:blip r:embed="rId8"/>
          <a:srcRect l="3921" t="2103" r="3921" b="4150"/>
          <a:stretch>
            <a:fillRect/>
          </a:stretch>
        </p:blipFill>
        <p:spPr>
          <a:xfrm>
            <a:off x="12516707" y="1317918"/>
            <a:ext cx="4450505" cy="3463966"/>
          </a:xfrm>
          <a:prstGeom prst="rect">
            <a:avLst/>
          </a:prstGeom>
        </p:spPr>
      </p:pic>
    </p:spTree>
    <p:extLst>
      <p:ext uri="{BB962C8B-B14F-4D97-AF65-F5344CB8AC3E}">
        <p14:creationId xmlns:p14="http://schemas.microsoft.com/office/powerpoint/2010/main" val="4105732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ADBC-F3DE-710E-2209-6BCCF5105B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C088C5-3E42-B3D6-C3A9-7ED86FD1224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a:p>
        </p:txBody>
      </p:sp>
      <p:grpSp>
        <p:nvGrpSpPr>
          <p:cNvPr id="3" name="Group 3">
            <a:extLst>
              <a:ext uri="{FF2B5EF4-FFF2-40B4-BE49-F238E27FC236}">
                <a16:creationId xmlns:a16="http://schemas.microsoft.com/office/drawing/2014/main" id="{B20CFC20-8D0D-1467-4678-3C75D10B3446}"/>
              </a:ext>
            </a:extLst>
          </p:cNvPr>
          <p:cNvGrpSpPr/>
          <p:nvPr/>
        </p:nvGrpSpPr>
        <p:grpSpPr>
          <a:xfrm>
            <a:off x="0" y="0"/>
            <a:ext cx="16496626" cy="10287000"/>
            <a:chOff x="0" y="0"/>
            <a:chExt cx="4344790" cy="2709333"/>
          </a:xfrm>
        </p:grpSpPr>
        <p:sp>
          <p:nvSpPr>
            <p:cNvPr id="4" name="Freeform 4">
              <a:extLst>
                <a:ext uri="{FF2B5EF4-FFF2-40B4-BE49-F238E27FC236}">
                  <a16:creationId xmlns:a16="http://schemas.microsoft.com/office/drawing/2014/main" id="{96A687B8-09BC-D60F-B5AF-68A6A95FD74C}"/>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a:p>
          </p:txBody>
        </p:sp>
        <p:sp>
          <p:nvSpPr>
            <p:cNvPr id="5" name="TextBox 5">
              <a:extLst>
                <a:ext uri="{FF2B5EF4-FFF2-40B4-BE49-F238E27FC236}">
                  <a16:creationId xmlns:a16="http://schemas.microsoft.com/office/drawing/2014/main" id="{7086CC52-2EE3-5A50-E288-1DA42159C2FB}"/>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984DDA61-FEFF-B336-1658-9945B599A9A6}"/>
              </a:ext>
            </a:extLst>
          </p:cNvPr>
          <p:cNvSpPr/>
          <p:nvPr/>
        </p:nvSpPr>
        <p:spPr>
          <a:xfrm rot="-5931620" flipH="1">
            <a:off x="5415661" y="-4946745"/>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DF1E7E55-918F-EF81-9A1D-2FC80C6ED611}"/>
              </a:ext>
            </a:extLst>
          </p:cNvPr>
          <p:cNvSpPr/>
          <p:nvPr/>
        </p:nvSpPr>
        <p:spPr>
          <a:xfrm rot="8510065" flipH="1" flipV="1">
            <a:off x="-220504" y="65413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a:extLst>
              <a:ext uri="{FF2B5EF4-FFF2-40B4-BE49-F238E27FC236}">
                <a16:creationId xmlns:a16="http://schemas.microsoft.com/office/drawing/2014/main" id="{67ABC7F4-5F65-4DAC-DC18-A299C7B7D3B2}"/>
              </a:ext>
            </a:extLst>
          </p:cNvPr>
          <p:cNvSpPr/>
          <p:nvPr/>
        </p:nvSpPr>
        <p:spPr>
          <a:xfrm rot="-823344">
            <a:off x="8752050" y="2170511"/>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4EE10277-7F8F-6600-F5FC-00599069A69D}"/>
              </a:ext>
            </a:extLst>
          </p:cNvPr>
          <p:cNvSpPr/>
          <p:nvPr/>
        </p:nvSpPr>
        <p:spPr>
          <a:xfrm rot="-823344">
            <a:off x="8558149" y="2490447"/>
            <a:ext cx="920651" cy="920651"/>
          </a:xfrm>
          <a:custGeom>
            <a:avLst/>
            <a:gdLst/>
            <a:ahLst/>
            <a:cxnLst/>
            <a:rect l="l" t="t" r="r" b="b"/>
            <a:pathLst>
              <a:path w="920651" h="920651">
                <a:moveTo>
                  <a:pt x="0" y="0"/>
                </a:moveTo>
                <a:lnTo>
                  <a:pt x="920651" y="0"/>
                </a:lnTo>
                <a:lnTo>
                  <a:pt x="920651" y="920651"/>
                </a:lnTo>
                <a:lnTo>
                  <a:pt x="0" y="92065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111C2AA6-AD0D-30FC-94BE-ABAD51FBF770}"/>
              </a:ext>
            </a:extLst>
          </p:cNvPr>
          <p:cNvGrpSpPr/>
          <p:nvPr/>
        </p:nvGrpSpPr>
        <p:grpSpPr>
          <a:xfrm>
            <a:off x="613530" y="5735477"/>
            <a:ext cx="300229" cy="300229"/>
            <a:chOff x="0" y="0"/>
            <a:chExt cx="812800" cy="812800"/>
          </a:xfrm>
        </p:grpSpPr>
        <p:sp>
          <p:nvSpPr>
            <p:cNvPr id="11" name="Freeform 11">
              <a:extLst>
                <a:ext uri="{FF2B5EF4-FFF2-40B4-BE49-F238E27FC236}">
                  <a16:creationId xmlns:a16="http://schemas.microsoft.com/office/drawing/2014/main" id="{A3FF24B5-2D8D-8D75-FF78-8666CD7498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7A1D0DA2-8685-B0EF-DFA7-D98C43C92CE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a:extLst>
              <a:ext uri="{FF2B5EF4-FFF2-40B4-BE49-F238E27FC236}">
                <a16:creationId xmlns:a16="http://schemas.microsoft.com/office/drawing/2014/main" id="{E2EB7233-606A-5534-D316-0909D0C1666E}"/>
              </a:ext>
            </a:extLst>
          </p:cNvPr>
          <p:cNvGrpSpPr/>
          <p:nvPr/>
        </p:nvGrpSpPr>
        <p:grpSpPr>
          <a:xfrm>
            <a:off x="8057810" y="8094092"/>
            <a:ext cx="474357" cy="474357"/>
            <a:chOff x="0" y="0"/>
            <a:chExt cx="812800" cy="812800"/>
          </a:xfrm>
        </p:grpSpPr>
        <p:sp>
          <p:nvSpPr>
            <p:cNvPr id="14" name="Freeform 14">
              <a:extLst>
                <a:ext uri="{FF2B5EF4-FFF2-40B4-BE49-F238E27FC236}">
                  <a16:creationId xmlns:a16="http://schemas.microsoft.com/office/drawing/2014/main" id="{72D67BB5-5E3B-DC8B-3796-6EB76FEA06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5" name="TextBox 15">
              <a:extLst>
                <a:ext uri="{FF2B5EF4-FFF2-40B4-BE49-F238E27FC236}">
                  <a16:creationId xmlns:a16="http://schemas.microsoft.com/office/drawing/2014/main" id="{2A417E9F-994E-2CCD-E3E9-13426D99E4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BA9D2041-81AB-01E6-E1A5-5ECD7CEE4386}"/>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5E6FBDDE-7C3A-458C-2244-E761FDB488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B9A44279-0FE6-9324-4E5B-665B02DE93E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1" name="Freeform 21">
            <a:extLst>
              <a:ext uri="{FF2B5EF4-FFF2-40B4-BE49-F238E27FC236}">
                <a16:creationId xmlns:a16="http://schemas.microsoft.com/office/drawing/2014/main" id="{FA9C1A2F-CD55-EBD7-04DD-85F3360B6C4B}"/>
              </a:ext>
            </a:extLst>
          </p:cNvPr>
          <p:cNvSpPr/>
          <p:nvPr/>
        </p:nvSpPr>
        <p:spPr>
          <a:xfrm>
            <a:off x="16997119" y="693219"/>
            <a:ext cx="433631" cy="288907"/>
          </a:xfrm>
          <a:custGeom>
            <a:avLst/>
            <a:gdLst/>
            <a:ahLst/>
            <a:cxnLst/>
            <a:rect l="l" t="t" r="r" b="b"/>
            <a:pathLst>
              <a:path w="433631" h="288907">
                <a:moveTo>
                  <a:pt x="0" y="0"/>
                </a:moveTo>
                <a:lnTo>
                  <a:pt x="433631" y="0"/>
                </a:lnTo>
                <a:lnTo>
                  <a:pt x="433631" y="288906"/>
                </a:lnTo>
                <a:lnTo>
                  <a:pt x="0" y="2889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2" name="TextBox 22">
            <a:extLst>
              <a:ext uri="{FF2B5EF4-FFF2-40B4-BE49-F238E27FC236}">
                <a16:creationId xmlns:a16="http://schemas.microsoft.com/office/drawing/2014/main" id="{A2130644-6977-EFFF-B54F-722A313DB000}"/>
              </a:ext>
            </a:extLst>
          </p:cNvPr>
          <p:cNvSpPr txBox="1"/>
          <p:nvPr/>
        </p:nvSpPr>
        <p:spPr>
          <a:xfrm>
            <a:off x="1389458" y="5116423"/>
            <a:ext cx="11429530" cy="769441"/>
          </a:xfrm>
          <a:prstGeom prst="rect">
            <a:avLst/>
          </a:prstGeom>
        </p:spPr>
        <p:txBody>
          <a:bodyPr wrap="square" lIns="0" tIns="0" rIns="0" bIns="0" rtlCol="0" anchor="t">
            <a:spAutoFit/>
          </a:bodyPr>
          <a:lstStyle/>
          <a:p>
            <a:r>
              <a:rPr lang="en-US" sz="5000" b="1" dirty="0">
                <a:latin typeface="Poppins Light" panose="00000400000000000000" pitchFamily="2" charset="0"/>
                <a:cs typeface="Poppins Light" panose="00000400000000000000" pitchFamily="2" charset="0"/>
              </a:rPr>
              <a:t>IT22587206 | </a:t>
            </a:r>
            <a:r>
              <a:rPr lang="en-US" sz="5000" b="1" dirty="0" err="1">
                <a:latin typeface="Poppins Light" panose="00000400000000000000" pitchFamily="2" charset="0"/>
                <a:cs typeface="Poppins Light" panose="00000400000000000000" pitchFamily="2" charset="0"/>
              </a:rPr>
              <a:t>Jayanath</a:t>
            </a:r>
            <a:r>
              <a:rPr lang="en-US" sz="5000" b="1" dirty="0">
                <a:latin typeface="Poppins Light" panose="00000400000000000000" pitchFamily="2" charset="0"/>
                <a:cs typeface="Poppins Light" panose="00000400000000000000" pitchFamily="2" charset="0"/>
              </a:rPr>
              <a:t> M.I.T</a:t>
            </a:r>
          </a:p>
        </p:txBody>
      </p:sp>
      <p:sp>
        <p:nvSpPr>
          <p:cNvPr id="27" name="TextBox 27">
            <a:extLst>
              <a:ext uri="{FF2B5EF4-FFF2-40B4-BE49-F238E27FC236}">
                <a16:creationId xmlns:a16="http://schemas.microsoft.com/office/drawing/2014/main" id="{D283A7EB-84B2-CB77-C61D-9A28B6EAE200}"/>
              </a:ext>
            </a:extLst>
          </p:cNvPr>
          <p:cNvSpPr txBox="1"/>
          <p:nvPr/>
        </p:nvSpPr>
        <p:spPr>
          <a:xfrm>
            <a:off x="1384542" y="6369434"/>
            <a:ext cx="15612577" cy="1436291"/>
          </a:xfrm>
          <a:prstGeom prst="rect">
            <a:avLst/>
          </a:prstGeom>
        </p:spPr>
        <p:txBody>
          <a:bodyPr wrap="square" lIns="0" tIns="0" rIns="0" bIns="0" rtlCol="0" anchor="t">
            <a:spAutoFit/>
          </a:bodyPr>
          <a:lstStyle/>
          <a:p>
            <a:pPr>
              <a:lnSpc>
                <a:spcPts val="5567"/>
              </a:lnSpc>
            </a:pPr>
            <a:r>
              <a:rPr lang="en-US" sz="4000" b="1" dirty="0"/>
              <a:t>AI-Powered Food Recognition &amp; Nutrient-Driven Dietary Recommendation System</a:t>
            </a:r>
            <a:endParaRPr lang="en-US" sz="4000" b="1" spc="-67" dirty="0">
              <a:solidFill>
                <a:srgbClr val="85C9B4"/>
              </a:solidFill>
              <a:latin typeface="Poppins Semi-Bold"/>
              <a:ea typeface="Poppins Semi-Bold"/>
              <a:cs typeface="Poppins Semi-Bold"/>
              <a:sym typeface="Poppins Semi-Bold"/>
            </a:endParaRPr>
          </a:p>
        </p:txBody>
      </p:sp>
      <p:sp>
        <p:nvSpPr>
          <p:cNvPr id="30" name="TextBox 29">
            <a:extLst>
              <a:ext uri="{FF2B5EF4-FFF2-40B4-BE49-F238E27FC236}">
                <a16:creationId xmlns:a16="http://schemas.microsoft.com/office/drawing/2014/main" id="{575ADF43-E2E2-09F2-011F-80CE50BDF49F}"/>
              </a:ext>
            </a:extLst>
          </p:cNvPr>
          <p:cNvSpPr txBox="1"/>
          <p:nvPr/>
        </p:nvSpPr>
        <p:spPr>
          <a:xfrm>
            <a:off x="1265326" y="7917310"/>
            <a:ext cx="10250128" cy="827919"/>
          </a:xfrm>
          <a:prstGeom prst="rect">
            <a:avLst/>
          </a:prstGeom>
          <a:noFill/>
        </p:spPr>
        <p:txBody>
          <a:bodyPr wrap="square">
            <a:spAutoFit/>
          </a:bodyPr>
          <a:lstStyle/>
          <a:p>
            <a:pPr>
              <a:lnSpc>
                <a:spcPct val="130008"/>
              </a:lnSpc>
            </a:pPr>
            <a:r>
              <a:rPr lang="en-US" sz="4000" dirty="0">
                <a:solidFill>
                  <a:srgbClr val="242424"/>
                </a:solidFill>
                <a:latin typeface="+mj-lt"/>
                <a:ea typeface="Arial"/>
                <a:cs typeface="Arial"/>
                <a:sym typeface="Arial"/>
              </a:rPr>
              <a:t>Specialization: Information Technology</a:t>
            </a:r>
            <a:endParaRPr lang="en-US" sz="4000" dirty="0">
              <a:latin typeface="+mj-lt"/>
            </a:endParaRPr>
          </a:p>
        </p:txBody>
      </p:sp>
      <p:grpSp>
        <p:nvGrpSpPr>
          <p:cNvPr id="17" name="Group 16">
            <a:extLst>
              <a:ext uri="{FF2B5EF4-FFF2-40B4-BE49-F238E27FC236}">
                <a16:creationId xmlns:a16="http://schemas.microsoft.com/office/drawing/2014/main" id="{4F8E5535-B9C0-7457-C845-F9EFB78D76C0}"/>
              </a:ext>
            </a:extLst>
          </p:cNvPr>
          <p:cNvGrpSpPr/>
          <p:nvPr/>
        </p:nvGrpSpPr>
        <p:grpSpPr>
          <a:xfrm>
            <a:off x="15240" y="9480549"/>
            <a:ext cx="3666038" cy="811179"/>
            <a:chOff x="0" y="0"/>
            <a:chExt cx="1025531" cy="226918"/>
          </a:xfrm>
        </p:grpSpPr>
        <p:sp>
          <p:nvSpPr>
            <p:cNvPr id="23" name="Freeform 13">
              <a:extLst>
                <a:ext uri="{FF2B5EF4-FFF2-40B4-BE49-F238E27FC236}">
                  <a16:creationId xmlns:a16="http://schemas.microsoft.com/office/drawing/2014/main" id="{144EDF37-B790-7FBB-4D82-11A56DD4C430}"/>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11"/>
              <a:stretch>
                <a:fillRect l="-921" r="-921"/>
              </a:stretch>
            </a:blipFill>
          </p:spPr>
          <p:txBody>
            <a:bodyPr/>
            <a:lstStyle/>
            <a:p>
              <a:endParaRPr lang="en-US"/>
            </a:p>
          </p:txBody>
        </p:sp>
      </p:grpSp>
      <p:sp>
        <p:nvSpPr>
          <p:cNvPr id="24" name="TextBox 23">
            <a:extLst>
              <a:ext uri="{FF2B5EF4-FFF2-40B4-BE49-F238E27FC236}">
                <a16:creationId xmlns:a16="http://schemas.microsoft.com/office/drawing/2014/main" id="{C51CA557-ABF2-CE0C-6573-6FDE125108EE}"/>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IT22587206</a:t>
            </a:r>
            <a:r>
              <a:rPr lang="en-US" sz="2400" i="0" dirty="0">
                <a:solidFill>
                  <a:srgbClr val="000000"/>
                </a:solidFill>
                <a:effectLst/>
              </a:rPr>
              <a:t> | </a:t>
            </a:r>
            <a:r>
              <a:rPr lang="en-US" sz="2400" dirty="0" err="1">
                <a:cs typeface="Poppins Light" panose="00000400000000000000" pitchFamily="2" charset="0"/>
              </a:rPr>
              <a:t>Jayanath</a:t>
            </a:r>
            <a:r>
              <a:rPr lang="en-US" sz="2400" dirty="0">
                <a:cs typeface="Poppins Light" panose="00000400000000000000" pitchFamily="2" charset="0"/>
              </a:rPr>
              <a:t> M.I.T</a:t>
            </a:r>
            <a:r>
              <a:rPr lang="en-US" sz="2400" i="0" dirty="0">
                <a:solidFill>
                  <a:srgbClr val="000000"/>
                </a:solidFill>
                <a:effectLst/>
              </a:rPr>
              <a:t> | 25-26J-371</a:t>
            </a:r>
            <a:endParaRPr lang="en-US" sz="2400" dirty="0">
              <a:effectLst/>
            </a:endParaRPr>
          </a:p>
        </p:txBody>
      </p:sp>
      <p:pic>
        <p:nvPicPr>
          <p:cNvPr id="26" name="Picture 25">
            <a:extLst>
              <a:ext uri="{FF2B5EF4-FFF2-40B4-BE49-F238E27FC236}">
                <a16:creationId xmlns:a16="http://schemas.microsoft.com/office/drawing/2014/main" id="{5794BEDD-2559-B8D6-D49E-8BC4C1B5DE9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020766" y="0"/>
            <a:ext cx="3203992" cy="3203992"/>
          </a:xfrm>
          <a:prstGeom prst="rect">
            <a:avLst/>
          </a:prstGeom>
        </p:spPr>
      </p:pic>
    </p:spTree>
    <p:extLst>
      <p:ext uri="{BB962C8B-B14F-4D97-AF65-F5344CB8AC3E}">
        <p14:creationId xmlns:p14="http://schemas.microsoft.com/office/powerpoint/2010/main" val="3244066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817078" flipH="1">
            <a:off x="7584624" y="-5318040"/>
            <a:ext cx="5404519" cy="10214726"/>
          </a:xfrm>
          <a:custGeom>
            <a:avLst/>
            <a:gdLst/>
            <a:ahLst/>
            <a:cxnLst/>
            <a:rect l="l" t="t" r="r" b="b"/>
            <a:pathLst>
              <a:path w="5404519" h="10214726">
                <a:moveTo>
                  <a:pt x="5404519" y="0"/>
                </a:moveTo>
                <a:lnTo>
                  <a:pt x="0" y="0"/>
                </a:lnTo>
                <a:lnTo>
                  <a:pt x="0" y="10214727"/>
                </a:lnTo>
                <a:lnTo>
                  <a:pt x="5404519" y="10214727"/>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967973" y="5926801"/>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382888" y="2383316"/>
            <a:ext cx="4790733" cy="2872438"/>
            <a:chOff x="0" y="0"/>
            <a:chExt cx="817871" cy="406400"/>
          </a:xfrm>
        </p:grpSpPr>
        <p:sp>
          <p:nvSpPr>
            <p:cNvPr id="9" name="Freeform 9"/>
            <p:cNvSpPr/>
            <p:nvPr/>
          </p:nvSpPr>
          <p:spPr>
            <a:xfrm>
              <a:off x="0" y="0"/>
              <a:ext cx="817871" cy="406400"/>
            </a:xfrm>
            <a:custGeom>
              <a:avLst/>
              <a:gdLst/>
              <a:ahLst/>
              <a:cxnLst/>
              <a:rect l="l" t="t" r="r" b="b"/>
              <a:pathLst>
                <a:path w="817871" h="406400">
                  <a:moveTo>
                    <a:pt x="614671" y="0"/>
                  </a:moveTo>
                  <a:cubicBezTo>
                    <a:pt x="726901" y="0"/>
                    <a:pt x="817871" y="90970"/>
                    <a:pt x="817871" y="203200"/>
                  </a:cubicBezTo>
                  <a:cubicBezTo>
                    <a:pt x="817871" y="315430"/>
                    <a:pt x="726901" y="406400"/>
                    <a:pt x="614671" y="406400"/>
                  </a:cubicBezTo>
                  <a:lnTo>
                    <a:pt x="203200" y="406400"/>
                  </a:lnTo>
                  <a:cubicBezTo>
                    <a:pt x="90970" y="406400"/>
                    <a:pt x="0" y="315430"/>
                    <a:pt x="0" y="203200"/>
                  </a:cubicBezTo>
                  <a:cubicBezTo>
                    <a:pt x="0" y="90970"/>
                    <a:pt x="90970" y="0"/>
                    <a:pt x="203200" y="0"/>
                  </a:cubicBezTo>
                  <a:lnTo>
                    <a:pt x="614671" y="0"/>
                  </a:lnTo>
                </a:path>
              </a:pathLst>
            </a:custGeom>
            <a:blipFill>
              <a:blip r:embed="rId4"/>
              <a:stretch>
                <a:fillRect t="-3303" b="-30778"/>
              </a:stretch>
            </a:blipFill>
          </p:spPr>
          <p:txBody>
            <a:bodyPr/>
            <a:lstStyle/>
            <a:p>
              <a:endParaRPr lang="en-US"/>
            </a:p>
          </p:txBody>
        </p:sp>
      </p:grpSp>
      <p:grpSp>
        <p:nvGrpSpPr>
          <p:cNvPr id="10" name="Group 10"/>
          <p:cNvGrpSpPr/>
          <p:nvPr/>
        </p:nvGrpSpPr>
        <p:grpSpPr>
          <a:xfrm>
            <a:off x="574633" y="6403573"/>
            <a:ext cx="300229" cy="30022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31" name="TextBox 31"/>
          <p:cNvSpPr txBox="1"/>
          <p:nvPr/>
        </p:nvSpPr>
        <p:spPr>
          <a:xfrm>
            <a:off x="1556970" y="2129303"/>
            <a:ext cx="7550159" cy="1723549"/>
          </a:xfrm>
          <a:prstGeom prst="rect">
            <a:avLst/>
          </a:prstGeom>
        </p:spPr>
        <p:txBody>
          <a:bodyPr wrap="square" lIns="0" tIns="0" rIns="0" bIns="0" rtlCol="0" anchor="t">
            <a:spAutoFit/>
          </a:bodyPr>
          <a:lstStyle/>
          <a:p>
            <a:r>
              <a:rPr lang="en-US" sz="2800" dirty="0"/>
              <a:t>Users struggle to understand the nutritional content of Sri Lankan meals and lack real-time guidance to manage their sodium, sugar, and overall dietary intake.</a:t>
            </a:r>
          </a:p>
        </p:txBody>
      </p:sp>
      <p:sp>
        <p:nvSpPr>
          <p:cNvPr id="46" name="TextBox 45">
            <a:extLst>
              <a:ext uri="{FF2B5EF4-FFF2-40B4-BE49-F238E27FC236}">
                <a16:creationId xmlns:a16="http://schemas.microsoft.com/office/drawing/2014/main" id="{A7CE9499-0188-E489-28F5-C2CF9CC8E215}"/>
              </a:ext>
            </a:extLst>
          </p:cNvPr>
          <p:cNvSpPr txBox="1"/>
          <p:nvPr/>
        </p:nvSpPr>
        <p:spPr>
          <a:xfrm>
            <a:off x="1409352" y="1560925"/>
            <a:ext cx="6178416" cy="553998"/>
          </a:xfrm>
          <a:prstGeom prst="rect">
            <a:avLst/>
          </a:prstGeom>
          <a:noFill/>
        </p:spPr>
        <p:txBody>
          <a:bodyPr wrap="square">
            <a:spAutoFit/>
          </a:bodyPr>
          <a:lstStyle/>
          <a:p>
            <a:r>
              <a:rPr lang="en-US" sz="3000" b="1" dirty="0">
                <a:solidFill>
                  <a:srgbClr val="85C9B4"/>
                </a:solidFill>
                <a:latin typeface="Poppins Medium" panose="00000600000000000000" pitchFamily="2" charset="0"/>
                <a:cs typeface="Poppins Medium" panose="00000600000000000000" pitchFamily="2" charset="0"/>
              </a:rPr>
              <a:t>Problem Statement</a:t>
            </a:r>
          </a:p>
        </p:txBody>
      </p:sp>
      <p:sp>
        <p:nvSpPr>
          <p:cNvPr id="19" name="TextBox 18">
            <a:extLst>
              <a:ext uri="{FF2B5EF4-FFF2-40B4-BE49-F238E27FC236}">
                <a16:creationId xmlns:a16="http://schemas.microsoft.com/office/drawing/2014/main" id="{EED17E36-7B48-7B90-0123-29AFA5BCD2BF}"/>
              </a:ext>
            </a:extLst>
          </p:cNvPr>
          <p:cNvSpPr txBox="1"/>
          <p:nvPr/>
        </p:nvSpPr>
        <p:spPr>
          <a:xfrm>
            <a:off x="1409352" y="121158"/>
            <a:ext cx="16251707" cy="2262158"/>
          </a:xfrm>
          <a:prstGeom prst="rect">
            <a:avLst/>
          </a:prstGeom>
          <a:noFill/>
        </p:spPr>
        <p:txBody>
          <a:bodyPr wrap="square">
            <a:spAutoFit/>
          </a:bodyPr>
          <a:lstStyle/>
          <a:p>
            <a:r>
              <a:rPr lang="en-US" sz="4800" b="1" dirty="0"/>
              <a:t>AI-Powered Food Recognition &amp; Nutrient-Driven Dietary Recommendation System</a:t>
            </a:r>
            <a:endParaRPr lang="en-US" sz="4800" b="1" spc="-67" dirty="0">
              <a:solidFill>
                <a:srgbClr val="85C9B4"/>
              </a:solidFill>
              <a:latin typeface="Poppins Semi-Bold"/>
              <a:ea typeface="Poppins Semi-Bold"/>
              <a:cs typeface="Poppins Semi-Bold"/>
              <a:sym typeface="Poppins Semi-Bold"/>
            </a:endParaRPr>
          </a:p>
          <a:p>
            <a:r>
              <a:rPr lang="en-US" sz="4500" b="1" dirty="0"/>
              <a:t>  </a:t>
            </a:r>
            <a:endParaRPr lang="en-US" sz="4500" dirty="0"/>
          </a:p>
        </p:txBody>
      </p:sp>
      <p:sp>
        <p:nvSpPr>
          <p:cNvPr id="28" name="TextBox 24">
            <a:extLst>
              <a:ext uri="{FF2B5EF4-FFF2-40B4-BE49-F238E27FC236}">
                <a16:creationId xmlns:a16="http://schemas.microsoft.com/office/drawing/2014/main" id="{E36295DD-C170-81D1-2931-C18DBB0910DE}"/>
              </a:ext>
            </a:extLst>
          </p:cNvPr>
          <p:cNvSpPr txBox="1"/>
          <p:nvPr/>
        </p:nvSpPr>
        <p:spPr>
          <a:xfrm>
            <a:off x="1614174" y="3964074"/>
            <a:ext cx="11353799"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How the Solution Addresses the Sub-Problem</a:t>
            </a:r>
          </a:p>
        </p:txBody>
      </p:sp>
      <p:sp>
        <p:nvSpPr>
          <p:cNvPr id="45" name="TextBox 25">
            <a:extLst>
              <a:ext uri="{FF2B5EF4-FFF2-40B4-BE49-F238E27FC236}">
                <a16:creationId xmlns:a16="http://schemas.microsoft.com/office/drawing/2014/main" id="{573A72A8-DFD9-E561-2BB2-3EECB43DA486}"/>
              </a:ext>
            </a:extLst>
          </p:cNvPr>
          <p:cNvSpPr txBox="1"/>
          <p:nvPr/>
        </p:nvSpPr>
        <p:spPr>
          <a:xfrm>
            <a:off x="1470288" y="4980253"/>
            <a:ext cx="10586617" cy="3016210"/>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2800" dirty="0"/>
              <a:t>Instant nutrient detection by simply taking a photo of the meal.</a:t>
            </a:r>
          </a:p>
          <a:p>
            <a:pPr marL="285750" indent="-285750">
              <a:buFont typeface="Arial" panose="020B0604020202020204" pitchFamily="34" charset="0"/>
              <a:buChar char="•"/>
            </a:pPr>
            <a:r>
              <a:rPr lang="en-US" sz="2800" dirty="0"/>
              <a:t>Immediate alerts for high sodium, high sugar, and high fat levels.</a:t>
            </a:r>
          </a:p>
          <a:p>
            <a:pPr marL="285750" indent="-285750">
              <a:buFont typeface="Arial" panose="020B0604020202020204" pitchFamily="34" charset="0"/>
              <a:buChar char="•"/>
            </a:pPr>
            <a:r>
              <a:rPr lang="en-US" sz="2800" dirty="0"/>
              <a:t>Color-coded health indicators (Good, Caution, Warning) for quick understanding.</a:t>
            </a:r>
          </a:p>
          <a:p>
            <a:pPr marL="285750" indent="-285750">
              <a:buFont typeface="Arial" panose="020B0604020202020204" pitchFamily="34" charset="0"/>
              <a:buChar char="•"/>
            </a:pPr>
            <a:r>
              <a:rPr lang="en-US" sz="2800" dirty="0"/>
              <a:t>Personalized health warnings such as “May increase blood pressure” or “Not recommended for diabetics.”</a:t>
            </a:r>
          </a:p>
          <a:p>
            <a:pPr marL="285750" indent="-285750">
              <a:buFont typeface="Arial" panose="020B0604020202020204" pitchFamily="34" charset="0"/>
              <a:buChar char="•"/>
            </a:pPr>
            <a:r>
              <a:rPr lang="en-US" sz="2800" dirty="0"/>
              <a:t>Automatic tracking of daily sodium, sugar, and calorie intake.</a:t>
            </a:r>
          </a:p>
        </p:txBody>
      </p:sp>
      <p:grpSp>
        <p:nvGrpSpPr>
          <p:cNvPr id="13" name="Group 12">
            <a:extLst>
              <a:ext uri="{FF2B5EF4-FFF2-40B4-BE49-F238E27FC236}">
                <a16:creationId xmlns:a16="http://schemas.microsoft.com/office/drawing/2014/main" id="{66413322-8C01-F6CF-28FF-15149176EEE5}"/>
              </a:ext>
            </a:extLst>
          </p:cNvPr>
          <p:cNvGrpSpPr/>
          <p:nvPr/>
        </p:nvGrpSpPr>
        <p:grpSpPr>
          <a:xfrm>
            <a:off x="15240" y="9480549"/>
            <a:ext cx="3666038" cy="811179"/>
            <a:chOff x="0" y="0"/>
            <a:chExt cx="1025531" cy="226918"/>
          </a:xfrm>
        </p:grpSpPr>
        <p:sp>
          <p:nvSpPr>
            <p:cNvPr id="14" name="Freeform 13">
              <a:extLst>
                <a:ext uri="{FF2B5EF4-FFF2-40B4-BE49-F238E27FC236}">
                  <a16:creationId xmlns:a16="http://schemas.microsoft.com/office/drawing/2014/main" id="{7CF0E3FD-5FA9-778C-A354-FC9EE54C20FE}"/>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7"/>
              <a:stretch>
                <a:fillRect l="-921" r="-921"/>
              </a:stretch>
            </a:blipFill>
          </p:spPr>
          <p:txBody>
            <a:bodyPr/>
            <a:lstStyle/>
            <a:p>
              <a:endParaRPr lang="en-US"/>
            </a:p>
          </p:txBody>
        </p:sp>
      </p:grpSp>
      <p:sp>
        <p:nvSpPr>
          <p:cNvPr id="15" name="TextBox 14">
            <a:extLst>
              <a:ext uri="{FF2B5EF4-FFF2-40B4-BE49-F238E27FC236}">
                <a16:creationId xmlns:a16="http://schemas.microsoft.com/office/drawing/2014/main" id="{A8D4EA89-3A90-4279-088F-1D56E7F66511}"/>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IT22587206</a:t>
            </a:r>
            <a:r>
              <a:rPr lang="en-US" sz="2400" i="0" dirty="0">
                <a:solidFill>
                  <a:srgbClr val="000000"/>
                </a:solidFill>
                <a:effectLst/>
              </a:rPr>
              <a:t> | </a:t>
            </a:r>
            <a:r>
              <a:rPr lang="en-US" sz="2400" dirty="0" err="1">
                <a:cs typeface="Poppins Light" panose="00000400000000000000" pitchFamily="2" charset="0"/>
              </a:rPr>
              <a:t>Jayanath</a:t>
            </a:r>
            <a:r>
              <a:rPr lang="en-US" sz="2400" dirty="0">
                <a:cs typeface="Poppins Light" panose="00000400000000000000" pitchFamily="2" charset="0"/>
              </a:rPr>
              <a:t> M.I.T</a:t>
            </a:r>
            <a:r>
              <a:rPr lang="en-US" sz="2400" i="0" dirty="0">
                <a:solidFill>
                  <a:srgbClr val="000000"/>
                </a:solidFill>
                <a:effectLst/>
              </a:rPr>
              <a:t> | 25-26J-371</a:t>
            </a:r>
            <a:endParaRPr lang="en-US" sz="2400" dirty="0">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31620" flipH="1">
            <a:off x="5277259" y="-64661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283342" y="-1659732"/>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5" name="Group 15"/>
          <p:cNvGrpSpPr/>
          <p:nvPr/>
        </p:nvGrpSpPr>
        <p:grpSpPr>
          <a:xfrm>
            <a:off x="11267812" y="1182423"/>
            <a:ext cx="300229" cy="30022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8" name="TextBox 17">
            <a:extLst>
              <a:ext uri="{FF2B5EF4-FFF2-40B4-BE49-F238E27FC236}">
                <a16:creationId xmlns:a16="http://schemas.microsoft.com/office/drawing/2014/main" id="{068BC20D-B441-EBCF-A98C-50E23107E9E7}"/>
              </a:ext>
            </a:extLst>
          </p:cNvPr>
          <p:cNvSpPr txBox="1"/>
          <p:nvPr/>
        </p:nvSpPr>
        <p:spPr>
          <a:xfrm>
            <a:off x="814634" y="65417"/>
            <a:ext cx="15327246" cy="2262158"/>
          </a:xfrm>
          <a:prstGeom prst="rect">
            <a:avLst/>
          </a:prstGeom>
          <a:noFill/>
        </p:spPr>
        <p:txBody>
          <a:bodyPr wrap="square">
            <a:spAutoFit/>
          </a:bodyPr>
          <a:lstStyle/>
          <a:p>
            <a:pPr>
              <a:defRPr/>
            </a:pPr>
            <a:r>
              <a:rPr lang="en-US" sz="4800" b="1" dirty="0"/>
              <a:t>AI-Powered Food Recognition &amp; Nutrient-Driven Dietary Recommendation System</a:t>
            </a:r>
            <a:endParaRPr lang="en-US" sz="4800" b="1" spc="-67" dirty="0">
              <a:solidFill>
                <a:srgbClr val="85C9B4"/>
              </a:solidFill>
              <a:latin typeface="Poppins Semi-Bold"/>
              <a:ea typeface="Poppins Semi-Bold"/>
              <a:cs typeface="Poppins Semi-Bold"/>
              <a:sym typeface="Poppins Semi-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a:ea typeface="+mn-ea"/>
                <a:cs typeface="+mn-cs"/>
              </a:rPr>
              <a:t>  </a:t>
            </a:r>
            <a:endParaRPr kumimoji="0" lang="en-US" sz="45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Box 24">
            <a:extLst>
              <a:ext uri="{FF2B5EF4-FFF2-40B4-BE49-F238E27FC236}">
                <a16:creationId xmlns:a16="http://schemas.microsoft.com/office/drawing/2014/main" id="{183F52BC-F774-611B-3A2C-658ADE6B4D65}"/>
              </a:ext>
            </a:extLst>
          </p:cNvPr>
          <p:cNvSpPr txBox="1"/>
          <p:nvPr/>
        </p:nvSpPr>
        <p:spPr>
          <a:xfrm>
            <a:off x="988926" y="1574307"/>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User Requirements Addressed by the Solution</a:t>
            </a:r>
          </a:p>
        </p:txBody>
      </p:sp>
      <p:sp>
        <p:nvSpPr>
          <p:cNvPr id="35" name="TextBox 25">
            <a:extLst>
              <a:ext uri="{FF2B5EF4-FFF2-40B4-BE49-F238E27FC236}">
                <a16:creationId xmlns:a16="http://schemas.microsoft.com/office/drawing/2014/main" id="{A943DC97-26CD-C1DE-70D1-45D746DBDC98}"/>
              </a:ext>
            </a:extLst>
          </p:cNvPr>
          <p:cNvSpPr txBox="1"/>
          <p:nvPr/>
        </p:nvSpPr>
        <p:spPr>
          <a:xfrm>
            <a:off x="899388" y="2378023"/>
            <a:ext cx="11026304" cy="2154436"/>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2800" dirty="0"/>
              <a:t>Ability to instantly identify nutritional content by taking a photo.</a:t>
            </a:r>
          </a:p>
          <a:p>
            <a:pPr marL="285750" indent="-285750">
              <a:buFont typeface="Arial" panose="020B0604020202020204" pitchFamily="34" charset="0"/>
              <a:buChar char="•"/>
            </a:pPr>
            <a:r>
              <a:rPr lang="en-US" sz="2800" dirty="0"/>
              <a:t>Real-time alerts for high sodium, sugar, and fat levels.</a:t>
            </a:r>
          </a:p>
          <a:p>
            <a:pPr marL="285750" indent="-285750">
              <a:buFont typeface="Arial" panose="020B0604020202020204" pitchFamily="34" charset="0"/>
              <a:buChar char="•"/>
            </a:pPr>
            <a:r>
              <a:rPr lang="en-US" sz="2800" dirty="0"/>
              <a:t>Clear, color-coded indicators to understand health risks quickly.</a:t>
            </a:r>
          </a:p>
          <a:p>
            <a:pPr marL="285750" indent="-285750">
              <a:buFont typeface="Arial" panose="020B0604020202020204" pitchFamily="34" charset="0"/>
              <a:buChar char="•"/>
            </a:pPr>
            <a:r>
              <a:rPr lang="en-US" sz="2800" dirty="0"/>
              <a:t>Personalized warnings based on potential health impacts.</a:t>
            </a:r>
          </a:p>
          <a:p>
            <a:pPr marL="285750" indent="-285750">
              <a:buFont typeface="Arial" panose="020B0604020202020204" pitchFamily="34" charset="0"/>
              <a:buChar char="•"/>
            </a:pPr>
            <a:r>
              <a:rPr lang="en-US" sz="2800" dirty="0"/>
              <a:t>Automatic tracking of daily nutrient intake for better diet management.</a:t>
            </a:r>
          </a:p>
        </p:txBody>
      </p:sp>
      <p:sp>
        <p:nvSpPr>
          <p:cNvPr id="43" name="TextBox 42">
            <a:extLst>
              <a:ext uri="{FF2B5EF4-FFF2-40B4-BE49-F238E27FC236}">
                <a16:creationId xmlns:a16="http://schemas.microsoft.com/office/drawing/2014/main" id="{9DA5BD71-DC90-7528-DA0D-76A05CA69926}"/>
              </a:ext>
            </a:extLst>
          </p:cNvPr>
          <p:cNvSpPr txBox="1"/>
          <p:nvPr/>
        </p:nvSpPr>
        <p:spPr>
          <a:xfrm>
            <a:off x="589925" y="5441844"/>
            <a:ext cx="12474469" cy="3108543"/>
          </a:xfrm>
          <a:prstGeom prst="rect">
            <a:avLst/>
          </a:prstGeom>
          <a:noFill/>
        </p:spPr>
        <p:txBody>
          <a:bodyPr wrap="square">
            <a:spAutoFit/>
          </a:bodyPr>
          <a:lstStyle/>
          <a:p>
            <a:pPr marL="285750" indent="-285750">
              <a:buFont typeface="Arial" panose="020B0604020202020204" pitchFamily="34" charset="0"/>
              <a:buChar char="•"/>
            </a:pPr>
            <a:r>
              <a:rPr lang="en-US" sz="2800" dirty="0"/>
              <a:t>Advanced AI integration using YOLOv8 object detection fused with a Sri Lankan nutrition database for highly accurate diabetes- and hypertension-focused assessments.</a:t>
            </a:r>
          </a:p>
          <a:p>
            <a:pPr marL="285750" indent="-285750">
              <a:buFont typeface="Arial" panose="020B0604020202020204" pitchFamily="34" charset="0"/>
              <a:buChar char="•"/>
            </a:pPr>
            <a:r>
              <a:rPr lang="en-US" sz="2800" dirty="0"/>
              <a:t>Precise nutrient calculations powered by a custom health-logic layer that delivers real-time sodium, sugar, and risk-level analysis.</a:t>
            </a:r>
          </a:p>
          <a:p>
            <a:pPr marL="285750" indent="-285750">
              <a:buFont typeface="Arial" panose="020B0604020202020204" pitchFamily="34" charset="0"/>
              <a:buChar char="•"/>
            </a:pPr>
            <a:r>
              <a:rPr lang="en-US" sz="2800" dirty="0"/>
              <a:t>Scalable </a:t>
            </a:r>
            <a:r>
              <a:rPr lang="en-US" sz="2800" dirty="0" err="1"/>
              <a:t>FastAPI</a:t>
            </a:r>
            <a:r>
              <a:rPr lang="en-US" sz="2800" dirty="0"/>
              <a:t> backend enabling secure, reliable, and low-latency food analysis with locally stored nutritional data.</a:t>
            </a:r>
          </a:p>
        </p:txBody>
      </p:sp>
      <p:sp>
        <p:nvSpPr>
          <p:cNvPr id="44" name="TextBox 24">
            <a:extLst>
              <a:ext uri="{FF2B5EF4-FFF2-40B4-BE49-F238E27FC236}">
                <a16:creationId xmlns:a16="http://schemas.microsoft.com/office/drawing/2014/main" id="{9B48981C-35C4-EF98-6949-660D7897C557}"/>
              </a:ext>
            </a:extLst>
          </p:cNvPr>
          <p:cNvSpPr txBox="1"/>
          <p:nvPr/>
        </p:nvSpPr>
        <p:spPr>
          <a:xfrm>
            <a:off x="890976" y="4720141"/>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Design Excellence</a:t>
            </a:r>
          </a:p>
        </p:txBody>
      </p:sp>
      <p:sp>
        <p:nvSpPr>
          <p:cNvPr id="8" name="Rectangle 1">
            <a:extLst>
              <a:ext uri="{FF2B5EF4-FFF2-40B4-BE49-F238E27FC236}">
                <a16:creationId xmlns:a16="http://schemas.microsoft.com/office/drawing/2014/main" id="{FB845618-948C-1248-64AA-B6C8E3331CB8}"/>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9" name="Group 8">
            <a:extLst>
              <a:ext uri="{FF2B5EF4-FFF2-40B4-BE49-F238E27FC236}">
                <a16:creationId xmlns:a16="http://schemas.microsoft.com/office/drawing/2014/main" id="{9279B6DA-58A1-3887-DFE6-FB894565C8B0}"/>
              </a:ext>
            </a:extLst>
          </p:cNvPr>
          <p:cNvGrpSpPr/>
          <p:nvPr/>
        </p:nvGrpSpPr>
        <p:grpSpPr>
          <a:xfrm>
            <a:off x="15240" y="9480549"/>
            <a:ext cx="3666038" cy="811179"/>
            <a:chOff x="0" y="0"/>
            <a:chExt cx="1025531" cy="226918"/>
          </a:xfrm>
        </p:grpSpPr>
        <p:sp>
          <p:nvSpPr>
            <p:cNvPr id="10" name="Freeform 13">
              <a:extLst>
                <a:ext uri="{FF2B5EF4-FFF2-40B4-BE49-F238E27FC236}">
                  <a16:creationId xmlns:a16="http://schemas.microsoft.com/office/drawing/2014/main" id="{320F159E-71A5-7F77-0C35-B67D83E00217}"/>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6"/>
              <a:stretch>
                <a:fillRect l="-921" r="-921"/>
              </a:stretch>
            </a:blipFill>
          </p:spPr>
          <p:txBody>
            <a:bodyPr/>
            <a:lstStyle/>
            <a:p>
              <a:endParaRPr lang="en-US"/>
            </a:p>
          </p:txBody>
        </p:sp>
      </p:grpSp>
      <p:sp>
        <p:nvSpPr>
          <p:cNvPr id="12" name="TextBox 11">
            <a:extLst>
              <a:ext uri="{FF2B5EF4-FFF2-40B4-BE49-F238E27FC236}">
                <a16:creationId xmlns:a16="http://schemas.microsoft.com/office/drawing/2014/main" id="{6CD15B49-CF63-4831-EF47-F77FCAE7760C}"/>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IT22587206</a:t>
            </a:r>
            <a:r>
              <a:rPr lang="en-US" sz="2400" i="0" dirty="0">
                <a:solidFill>
                  <a:srgbClr val="000000"/>
                </a:solidFill>
                <a:effectLst/>
              </a:rPr>
              <a:t> | </a:t>
            </a:r>
            <a:r>
              <a:rPr lang="en-US" sz="2400" dirty="0" err="1">
                <a:cs typeface="Poppins Light" panose="00000400000000000000" pitchFamily="2" charset="0"/>
              </a:rPr>
              <a:t>Jayanath</a:t>
            </a:r>
            <a:r>
              <a:rPr lang="en-US" sz="2400" dirty="0">
                <a:cs typeface="Poppins Light" panose="00000400000000000000" pitchFamily="2" charset="0"/>
              </a:rPr>
              <a:t> M.I.T</a:t>
            </a:r>
            <a:r>
              <a:rPr lang="en-US" sz="2400" i="0" dirty="0">
                <a:solidFill>
                  <a:srgbClr val="000000"/>
                </a:solidFill>
                <a:effectLst/>
              </a:rPr>
              <a:t> | 25-26J-371</a:t>
            </a:r>
            <a:endParaRPr lang="en-US" sz="2400" dirty="0">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A192-49DE-DE9A-9D91-44DDDD046B71}"/>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A3B9907-81FB-B309-ADEE-C4426F6A7BDE}"/>
              </a:ext>
            </a:extLst>
          </p:cNvPr>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43541C65-24A7-0A0B-6C7B-DB147D89FB9A}"/>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B00C8BFD-9EB9-796F-A0EC-A721E569FD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22922CBD-65D9-8362-9D1D-3846CBB1F440}"/>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 name="TextBox 1">
            <a:extLst>
              <a:ext uri="{FF2B5EF4-FFF2-40B4-BE49-F238E27FC236}">
                <a16:creationId xmlns:a16="http://schemas.microsoft.com/office/drawing/2014/main" id="{22924907-1BDD-7101-0BB3-9D591EA9BDE7}"/>
              </a:ext>
            </a:extLst>
          </p:cNvPr>
          <p:cNvSpPr txBox="1"/>
          <p:nvPr/>
        </p:nvSpPr>
        <p:spPr>
          <a:xfrm>
            <a:off x="921037" y="267108"/>
            <a:ext cx="15327246" cy="1446550"/>
          </a:xfrm>
          <a:prstGeom prst="rect">
            <a:avLst/>
          </a:prstGeom>
          <a:noFill/>
        </p:spPr>
        <p:txBody>
          <a:bodyPr wrap="square">
            <a:spAutoFit/>
          </a:bodyPr>
          <a:lstStyle/>
          <a:p>
            <a:pPr>
              <a:defRPr/>
            </a:pPr>
            <a:r>
              <a:rPr lang="en-US" sz="4400" b="1" dirty="0"/>
              <a:t>AI-Powered Food Recognition &amp; Nutrient-Driven Dietary Recommendation System</a:t>
            </a:r>
            <a:endParaRPr lang="en-US" sz="4400" b="1" spc="-67" dirty="0">
              <a:solidFill>
                <a:srgbClr val="85C9B4"/>
              </a:solidFill>
              <a:latin typeface="Poppins Semi-Bold"/>
              <a:ea typeface="Poppins Semi-Bold"/>
              <a:cs typeface="Poppins Semi-Bold"/>
              <a:sym typeface="Poppins Semi-Bold"/>
            </a:endParaRPr>
          </a:p>
        </p:txBody>
      </p:sp>
      <p:sp>
        <p:nvSpPr>
          <p:cNvPr id="7" name="TextBox 6">
            <a:extLst>
              <a:ext uri="{FF2B5EF4-FFF2-40B4-BE49-F238E27FC236}">
                <a16:creationId xmlns:a16="http://schemas.microsoft.com/office/drawing/2014/main" id="{5BDA2BEB-615F-41CA-4829-95C6C1D27DE7}"/>
              </a:ext>
            </a:extLst>
          </p:cNvPr>
          <p:cNvSpPr txBox="1"/>
          <p:nvPr/>
        </p:nvSpPr>
        <p:spPr>
          <a:xfrm>
            <a:off x="849047" y="1624550"/>
            <a:ext cx="10183760" cy="707886"/>
          </a:xfrm>
          <a:prstGeom prst="rect">
            <a:avLst/>
          </a:prstGeom>
          <a:noFill/>
        </p:spPr>
        <p:txBody>
          <a:bodyPr wrap="square">
            <a:spAutoFit/>
          </a:bodyPr>
          <a:lstStyle/>
          <a:p>
            <a:r>
              <a:rPr lang="en-US" sz="4000" b="1" dirty="0">
                <a:solidFill>
                  <a:srgbClr val="85C9B4"/>
                </a:solidFill>
              </a:rPr>
              <a:t>User Feedback on Prototype</a:t>
            </a:r>
          </a:p>
        </p:txBody>
      </p:sp>
      <p:sp>
        <p:nvSpPr>
          <p:cNvPr id="10" name="TextBox 9">
            <a:extLst>
              <a:ext uri="{FF2B5EF4-FFF2-40B4-BE49-F238E27FC236}">
                <a16:creationId xmlns:a16="http://schemas.microsoft.com/office/drawing/2014/main" id="{8CDF1B59-4821-19F4-D745-CACECA74C5C7}"/>
              </a:ext>
            </a:extLst>
          </p:cNvPr>
          <p:cNvSpPr txBox="1"/>
          <p:nvPr/>
        </p:nvSpPr>
        <p:spPr>
          <a:xfrm>
            <a:off x="849047" y="2476500"/>
            <a:ext cx="10580953" cy="1569660"/>
          </a:xfrm>
          <a:prstGeom prst="rect">
            <a:avLst/>
          </a:prstGeom>
          <a:noFill/>
        </p:spPr>
        <p:txBody>
          <a:bodyPr wrap="square">
            <a:spAutoFit/>
          </a:bodyPr>
          <a:lstStyle/>
          <a:p>
            <a:pPr marL="457200" indent="-457200">
              <a:buFont typeface="Arial" panose="020B0604020202020204" pitchFamily="34" charset="0"/>
              <a:buChar char="•"/>
            </a:pPr>
            <a:r>
              <a:rPr lang="en-US" sz="3200" dirty="0"/>
              <a:t>Quick and easy meal logging via photo.</a:t>
            </a:r>
          </a:p>
          <a:p>
            <a:pPr marL="457200" indent="-457200">
              <a:buFont typeface="Arial" panose="020B0604020202020204" pitchFamily="34" charset="0"/>
              <a:buChar char="•"/>
            </a:pPr>
            <a:r>
              <a:rPr lang="en-US" sz="3200" dirty="0"/>
              <a:t>Real-time alerts for high sodium and sugar.</a:t>
            </a:r>
          </a:p>
          <a:p>
            <a:pPr marL="457200" indent="-457200">
              <a:buFont typeface="Arial" panose="020B0604020202020204" pitchFamily="34" charset="0"/>
              <a:buChar char="•"/>
            </a:pPr>
            <a:r>
              <a:rPr lang="en-US" sz="3200" dirty="0"/>
              <a:t>Color-coded indicators simplify health risk understanding.</a:t>
            </a:r>
          </a:p>
        </p:txBody>
      </p:sp>
      <p:grpSp>
        <p:nvGrpSpPr>
          <p:cNvPr id="3" name="Group 2">
            <a:extLst>
              <a:ext uri="{FF2B5EF4-FFF2-40B4-BE49-F238E27FC236}">
                <a16:creationId xmlns:a16="http://schemas.microsoft.com/office/drawing/2014/main" id="{704DF16E-81E8-1087-829F-789B062A0BE7}"/>
              </a:ext>
            </a:extLst>
          </p:cNvPr>
          <p:cNvGrpSpPr/>
          <p:nvPr/>
        </p:nvGrpSpPr>
        <p:grpSpPr>
          <a:xfrm>
            <a:off x="15240" y="9480549"/>
            <a:ext cx="3666038" cy="811179"/>
            <a:chOff x="0" y="0"/>
            <a:chExt cx="1025531" cy="226918"/>
          </a:xfrm>
        </p:grpSpPr>
        <p:sp>
          <p:nvSpPr>
            <p:cNvPr id="4" name="Freeform 13">
              <a:extLst>
                <a:ext uri="{FF2B5EF4-FFF2-40B4-BE49-F238E27FC236}">
                  <a16:creationId xmlns:a16="http://schemas.microsoft.com/office/drawing/2014/main" id="{671EF705-A921-0538-D5B4-0D4CFBE19D71}"/>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4"/>
              <a:stretch>
                <a:fillRect l="-921" r="-921"/>
              </a:stretch>
            </a:blipFill>
          </p:spPr>
          <p:txBody>
            <a:bodyPr/>
            <a:lstStyle/>
            <a:p>
              <a:endParaRPr lang="en-US"/>
            </a:p>
          </p:txBody>
        </p:sp>
      </p:grpSp>
      <p:sp>
        <p:nvSpPr>
          <p:cNvPr id="5" name="TextBox 4">
            <a:extLst>
              <a:ext uri="{FF2B5EF4-FFF2-40B4-BE49-F238E27FC236}">
                <a16:creationId xmlns:a16="http://schemas.microsoft.com/office/drawing/2014/main" id="{558535FA-46ED-EA4A-7907-7D883AC94DAA}"/>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IT22587206</a:t>
            </a:r>
            <a:r>
              <a:rPr lang="en-US" sz="2400" i="0" dirty="0">
                <a:solidFill>
                  <a:srgbClr val="000000"/>
                </a:solidFill>
                <a:effectLst/>
              </a:rPr>
              <a:t> | </a:t>
            </a:r>
            <a:r>
              <a:rPr lang="en-US" sz="2400" dirty="0" err="1">
                <a:cs typeface="Poppins Light" panose="00000400000000000000" pitchFamily="2" charset="0"/>
              </a:rPr>
              <a:t>Jayanath</a:t>
            </a:r>
            <a:r>
              <a:rPr lang="en-US" sz="2400" dirty="0">
                <a:cs typeface="Poppins Light" panose="00000400000000000000" pitchFamily="2" charset="0"/>
              </a:rPr>
              <a:t> M.I.T</a:t>
            </a:r>
            <a:r>
              <a:rPr lang="en-US" sz="2400" i="0" dirty="0">
                <a:solidFill>
                  <a:srgbClr val="000000"/>
                </a:solidFill>
                <a:effectLst/>
              </a:rPr>
              <a:t> | 25-26J-371</a:t>
            </a:r>
            <a:endParaRPr lang="en-US" sz="2400" dirty="0">
              <a:effectLst/>
            </a:endParaRPr>
          </a:p>
        </p:txBody>
      </p:sp>
    </p:spTree>
    <p:extLst>
      <p:ext uri="{BB962C8B-B14F-4D97-AF65-F5344CB8AC3E}">
        <p14:creationId xmlns:p14="http://schemas.microsoft.com/office/powerpoint/2010/main" val="3386365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ADBC-F3DE-710E-2209-6BCCF5105B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C088C5-3E42-B3D6-C3A9-7ED86FD1224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a:p>
        </p:txBody>
      </p:sp>
      <p:grpSp>
        <p:nvGrpSpPr>
          <p:cNvPr id="3" name="Group 3">
            <a:extLst>
              <a:ext uri="{FF2B5EF4-FFF2-40B4-BE49-F238E27FC236}">
                <a16:creationId xmlns:a16="http://schemas.microsoft.com/office/drawing/2014/main" id="{B20CFC20-8D0D-1467-4678-3C75D10B3446}"/>
              </a:ext>
            </a:extLst>
          </p:cNvPr>
          <p:cNvGrpSpPr/>
          <p:nvPr/>
        </p:nvGrpSpPr>
        <p:grpSpPr>
          <a:xfrm>
            <a:off x="0" y="-35642"/>
            <a:ext cx="16496626" cy="10287000"/>
            <a:chOff x="0" y="0"/>
            <a:chExt cx="4344790" cy="2709333"/>
          </a:xfrm>
        </p:grpSpPr>
        <p:sp>
          <p:nvSpPr>
            <p:cNvPr id="4" name="Freeform 4">
              <a:extLst>
                <a:ext uri="{FF2B5EF4-FFF2-40B4-BE49-F238E27FC236}">
                  <a16:creationId xmlns:a16="http://schemas.microsoft.com/office/drawing/2014/main" id="{96A687B8-09BC-D60F-B5AF-68A6A95FD74C}"/>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a:p>
          </p:txBody>
        </p:sp>
        <p:sp>
          <p:nvSpPr>
            <p:cNvPr id="5" name="TextBox 5">
              <a:extLst>
                <a:ext uri="{FF2B5EF4-FFF2-40B4-BE49-F238E27FC236}">
                  <a16:creationId xmlns:a16="http://schemas.microsoft.com/office/drawing/2014/main" id="{7086CC52-2EE3-5A50-E288-1DA42159C2FB}"/>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984DDA61-FEFF-B336-1658-9945B599A9A6}"/>
              </a:ext>
            </a:extLst>
          </p:cNvPr>
          <p:cNvSpPr/>
          <p:nvPr/>
        </p:nvSpPr>
        <p:spPr>
          <a:xfrm rot="-5931620" flipH="1">
            <a:off x="5415661" y="-4946745"/>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a:extLst>
              <a:ext uri="{FF2B5EF4-FFF2-40B4-BE49-F238E27FC236}">
                <a16:creationId xmlns:a16="http://schemas.microsoft.com/office/drawing/2014/main" id="{DF1E7E55-918F-EF81-9A1D-2FC80C6ED611}"/>
              </a:ext>
            </a:extLst>
          </p:cNvPr>
          <p:cNvSpPr/>
          <p:nvPr/>
        </p:nvSpPr>
        <p:spPr>
          <a:xfrm rot="8510065" flipH="1" flipV="1">
            <a:off x="-220504" y="6541392"/>
            <a:ext cx="4147622" cy="7839148"/>
          </a:xfrm>
          <a:custGeom>
            <a:avLst/>
            <a:gdLst/>
            <a:ahLst/>
            <a:cxnLst/>
            <a:rect l="l" t="t" r="r" b="b"/>
            <a:pathLst>
              <a:path w="4147622" h="7839148">
                <a:moveTo>
                  <a:pt x="4147622" y="7839149"/>
                </a:moveTo>
                <a:lnTo>
                  <a:pt x="0" y="7839149"/>
                </a:lnTo>
                <a:lnTo>
                  <a:pt x="0" y="0"/>
                </a:lnTo>
                <a:lnTo>
                  <a:pt x="4147622" y="0"/>
                </a:lnTo>
                <a:lnTo>
                  <a:pt x="4147622" y="7839149"/>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111C2AA6-AD0D-30FC-94BE-ABAD51FBF770}"/>
              </a:ext>
            </a:extLst>
          </p:cNvPr>
          <p:cNvGrpSpPr/>
          <p:nvPr/>
        </p:nvGrpSpPr>
        <p:grpSpPr>
          <a:xfrm>
            <a:off x="613530" y="5735477"/>
            <a:ext cx="300229" cy="300229"/>
            <a:chOff x="0" y="0"/>
            <a:chExt cx="812800" cy="812800"/>
          </a:xfrm>
        </p:grpSpPr>
        <p:sp>
          <p:nvSpPr>
            <p:cNvPr id="11" name="Freeform 11">
              <a:extLst>
                <a:ext uri="{FF2B5EF4-FFF2-40B4-BE49-F238E27FC236}">
                  <a16:creationId xmlns:a16="http://schemas.microsoft.com/office/drawing/2014/main" id="{A3FF24B5-2D8D-8D75-FF78-8666CD7498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7A1D0DA2-8685-B0EF-DFA7-D98C43C92CE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a:extLst>
              <a:ext uri="{FF2B5EF4-FFF2-40B4-BE49-F238E27FC236}">
                <a16:creationId xmlns:a16="http://schemas.microsoft.com/office/drawing/2014/main" id="{E2EB7233-606A-5534-D316-0909D0C1666E}"/>
              </a:ext>
            </a:extLst>
          </p:cNvPr>
          <p:cNvGrpSpPr/>
          <p:nvPr/>
        </p:nvGrpSpPr>
        <p:grpSpPr>
          <a:xfrm>
            <a:off x="8057810" y="8094092"/>
            <a:ext cx="474357" cy="474357"/>
            <a:chOff x="0" y="0"/>
            <a:chExt cx="812800" cy="812800"/>
          </a:xfrm>
        </p:grpSpPr>
        <p:sp>
          <p:nvSpPr>
            <p:cNvPr id="14" name="Freeform 14">
              <a:extLst>
                <a:ext uri="{FF2B5EF4-FFF2-40B4-BE49-F238E27FC236}">
                  <a16:creationId xmlns:a16="http://schemas.microsoft.com/office/drawing/2014/main" id="{72D67BB5-5E3B-DC8B-3796-6EB76FEA06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5" name="TextBox 15">
              <a:extLst>
                <a:ext uri="{FF2B5EF4-FFF2-40B4-BE49-F238E27FC236}">
                  <a16:creationId xmlns:a16="http://schemas.microsoft.com/office/drawing/2014/main" id="{2A417E9F-994E-2CCD-E3E9-13426D99E4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BA9D2041-81AB-01E6-E1A5-5ECD7CEE4386}"/>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5E6FBDDE-7C3A-458C-2244-E761FDB488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B9A44279-0FE6-9324-4E5B-665B02DE93E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2" name="TextBox 22">
            <a:extLst>
              <a:ext uri="{FF2B5EF4-FFF2-40B4-BE49-F238E27FC236}">
                <a16:creationId xmlns:a16="http://schemas.microsoft.com/office/drawing/2014/main" id="{A2130644-6977-EFFF-B54F-722A313DB000}"/>
              </a:ext>
            </a:extLst>
          </p:cNvPr>
          <p:cNvSpPr txBox="1"/>
          <p:nvPr/>
        </p:nvSpPr>
        <p:spPr>
          <a:xfrm>
            <a:off x="1389458" y="5116423"/>
            <a:ext cx="11429530" cy="769441"/>
          </a:xfrm>
          <a:prstGeom prst="rect">
            <a:avLst/>
          </a:prstGeom>
        </p:spPr>
        <p:txBody>
          <a:bodyPr wrap="square" lIns="0" tIns="0" rIns="0" bIns="0" rtlCol="0" anchor="t">
            <a:spAutoFit/>
          </a:bodyPr>
          <a:lstStyle/>
          <a:p>
            <a:r>
              <a:rPr lang="en-US" sz="5000" b="1" dirty="0">
                <a:latin typeface="Poppins Light" panose="00000400000000000000" pitchFamily="2" charset="0"/>
                <a:cs typeface="Poppins Light" panose="00000400000000000000" pitchFamily="2" charset="0"/>
              </a:rPr>
              <a:t>IT22623690 | </a:t>
            </a:r>
            <a:r>
              <a:rPr lang="en-US" sz="5000" b="1" dirty="0" err="1">
                <a:latin typeface="Poppins Light" panose="00000400000000000000" pitchFamily="2" charset="0"/>
                <a:cs typeface="Poppins Light" panose="00000400000000000000" pitchFamily="2" charset="0"/>
              </a:rPr>
              <a:t>Jayawardhana</a:t>
            </a:r>
            <a:r>
              <a:rPr lang="en-US" sz="5000" b="1" dirty="0">
                <a:latin typeface="Poppins Light" panose="00000400000000000000" pitchFamily="2" charset="0"/>
                <a:cs typeface="Poppins Light" panose="00000400000000000000" pitchFamily="2" charset="0"/>
              </a:rPr>
              <a:t> N.S.G</a:t>
            </a:r>
          </a:p>
        </p:txBody>
      </p:sp>
      <p:sp>
        <p:nvSpPr>
          <p:cNvPr id="27" name="TextBox 27">
            <a:extLst>
              <a:ext uri="{FF2B5EF4-FFF2-40B4-BE49-F238E27FC236}">
                <a16:creationId xmlns:a16="http://schemas.microsoft.com/office/drawing/2014/main" id="{D283A7EB-84B2-CB77-C61D-9A28B6EAE200}"/>
              </a:ext>
            </a:extLst>
          </p:cNvPr>
          <p:cNvSpPr txBox="1"/>
          <p:nvPr/>
        </p:nvSpPr>
        <p:spPr>
          <a:xfrm>
            <a:off x="1384542" y="6369434"/>
            <a:ext cx="15612577" cy="1231106"/>
          </a:xfrm>
          <a:prstGeom prst="rect">
            <a:avLst/>
          </a:prstGeom>
        </p:spPr>
        <p:txBody>
          <a:bodyPr wrap="square" lIns="0" tIns="0" rIns="0" bIns="0" rtlCol="0" anchor="t">
            <a:spAutoFit/>
          </a:bodyPr>
          <a:lstStyle/>
          <a:p>
            <a:pPr>
              <a:spcBef>
                <a:spcPct val="0"/>
              </a:spcBef>
            </a:pPr>
            <a:r>
              <a:rPr lang="en-US" sz="4000" b="1" dirty="0"/>
              <a:t>A Domain-Specific AI Health Coach for Stress and Hypertension Awareness in Sri Lankans</a:t>
            </a:r>
            <a:endParaRPr lang="en-US" sz="4000" b="1" dirty="0">
              <a:solidFill>
                <a:srgbClr val="FFFFFF"/>
              </a:solidFill>
              <a:latin typeface="Poppins"/>
              <a:ea typeface="Poppins"/>
              <a:cs typeface="Poppins"/>
              <a:sym typeface="Poppins"/>
            </a:endParaRPr>
          </a:p>
        </p:txBody>
      </p:sp>
      <p:sp>
        <p:nvSpPr>
          <p:cNvPr id="30" name="TextBox 29">
            <a:extLst>
              <a:ext uri="{FF2B5EF4-FFF2-40B4-BE49-F238E27FC236}">
                <a16:creationId xmlns:a16="http://schemas.microsoft.com/office/drawing/2014/main" id="{575ADF43-E2E2-09F2-011F-80CE50BDF49F}"/>
              </a:ext>
            </a:extLst>
          </p:cNvPr>
          <p:cNvSpPr txBox="1"/>
          <p:nvPr/>
        </p:nvSpPr>
        <p:spPr>
          <a:xfrm>
            <a:off x="1265326" y="7917310"/>
            <a:ext cx="10250128" cy="827919"/>
          </a:xfrm>
          <a:prstGeom prst="rect">
            <a:avLst/>
          </a:prstGeom>
          <a:noFill/>
        </p:spPr>
        <p:txBody>
          <a:bodyPr wrap="square">
            <a:spAutoFit/>
          </a:bodyPr>
          <a:lstStyle/>
          <a:p>
            <a:pPr>
              <a:lnSpc>
                <a:spcPct val="130008"/>
              </a:lnSpc>
            </a:pPr>
            <a:r>
              <a:rPr lang="en-US" sz="4000" dirty="0">
                <a:solidFill>
                  <a:srgbClr val="242424"/>
                </a:solidFill>
                <a:latin typeface="+mj-lt"/>
                <a:ea typeface="Arial"/>
                <a:cs typeface="Arial"/>
                <a:sym typeface="Arial"/>
              </a:rPr>
              <a:t>Specialization: Information Technology</a:t>
            </a:r>
            <a:endParaRPr lang="en-US" sz="4000" dirty="0">
              <a:latin typeface="+mj-lt"/>
            </a:endParaRPr>
          </a:p>
        </p:txBody>
      </p:sp>
      <p:pic>
        <p:nvPicPr>
          <p:cNvPr id="17" name="Picture 16">
            <a:extLst>
              <a:ext uri="{FF2B5EF4-FFF2-40B4-BE49-F238E27FC236}">
                <a16:creationId xmlns:a16="http://schemas.microsoft.com/office/drawing/2014/main" id="{2B55A0D1-54D8-D66D-617E-77B10125E5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89107" y="872188"/>
            <a:ext cx="3098968" cy="3486339"/>
          </a:xfrm>
          <a:prstGeom prst="rect">
            <a:avLst/>
          </a:prstGeom>
        </p:spPr>
      </p:pic>
      <p:grpSp>
        <p:nvGrpSpPr>
          <p:cNvPr id="8" name="Group 7">
            <a:extLst>
              <a:ext uri="{FF2B5EF4-FFF2-40B4-BE49-F238E27FC236}">
                <a16:creationId xmlns:a16="http://schemas.microsoft.com/office/drawing/2014/main" id="{AF4578D1-4770-0221-487B-CDF34D13B9A7}"/>
              </a:ext>
            </a:extLst>
          </p:cNvPr>
          <p:cNvGrpSpPr/>
          <p:nvPr/>
        </p:nvGrpSpPr>
        <p:grpSpPr>
          <a:xfrm>
            <a:off x="15240" y="9480549"/>
            <a:ext cx="3666038" cy="811179"/>
            <a:chOff x="0" y="0"/>
            <a:chExt cx="1025531" cy="226918"/>
          </a:xfrm>
        </p:grpSpPr>
        <p:sp>
          <p:nvSpPr>
            <p:cNvPr id="9" name="Freeform 13">
              <a:extLst>
                <a:ext uri="{FF2B5EF4-FFF2-40B4-BE49-F238E27FC236}">
                  <a16:creationId xmlns:a16="http://schemas.microsoft.com/office/drawing/2014/main" id="{B17A9DA4-EAAB-B10A-2A86-E278C3DC6728}"/>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6"/>
              <a:stretch>
                <a:fillRect l="-921" r="-921"/>
              </a:stretch>
            </a:blipFill>
          </p:spPr>
          <p:txBody>
            <a:bodyPr/>
            <a:lstStyle/>
            <a:p>
              <a:endParaRPr lang="en-US"/>
            </a:p>
          </p:txBody>
        </p:sp>
      </p:grpSp>
      <p:sp>
        <p:nvSpPr>
          <p:cNvPr id="16" name="TextBox 15">
            <a:extLst>
              <a:ext uri="{FF2B5EF4-FFF2-40B4-BE49-F238E27FC236}">
                <a16:creationId xmlns:a16="http://schemas.microsoft.com/office/drawing/2014/main" id="{06E5CD82-CC5B-92E8-3BE2-AA1AE9C1611E}"/>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extLst>
      <p:ext uri="{BB962C8B-B14F-4D97-AF65-F5344CB8AC3E}">
        <p14:creationId xmlns:p14="http://schemas.microsoft.com/office/powerpoint/2010/main" val="156185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817078" flipH="1">
            <a:off x="7584624" y="-5318040"/>
            <a:ext cx="5404519" cy="10214726"/>
          </a:xfrm>
          <a:custGeom>
            <a:avLst/>
            <a:gdLst/>
            <a:ahLst/>
            <a:cxnLst/>
            <a:rect l="l" t="t" r="r" b="b"/>
            <a:pathLst>
              <a:path w="5404519" h="10214726">
                <a:moveTo>
                  <a:pt x="5404519" y="0"/>
                </a:moveTo>
                <a:lnTo>
                  <a:pt x="0" y="0"/>
                </a:lnTo>
                <a:lnTo>
                  <a:pt x="0" y="10214727"/>
                </a:lnTo>
                <a:lnTo>
                  <a:pt x="5404519" y="10214727"/>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967973" y="5926801"/>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2344400" y="1711660"/>
            <a:ext cx="4912926" cy="2508237"/>
            <a:chOff x="0" y="0"/>
            <a:chExt cx="817871" cy="406400"/>
          </a:xfrm>
        </p:grpSpPr>
        <p:sp>
          <p:nvSpPr>
            <p:cNvPr id="7" name="Freeform 7"/>
            <p:cNvSpPr/>
            <p:nvPr/>
          </p:nvSpPr>
          <p:spPr>
            <a:xfrm>
              <a:off x="0" y="0"/>
              <a:ext cx="817871" cy="406400"/>
            </a:xfrm>
            <a:custGeom>
              <a:avLst/>
              <a:gdLst/>
              <a:ahLst/>
              <a:cxnLst/>
              <a:rect l="l" t="t" r="r" b="b"/>
              <a:pathLst>
                <a:path w="817871" h="406400">
                  <a:moveTo>
                    <a:pt x="614671" y="0"/>
                  </a:moveTo>
                  <a:cubicBezTo>
                    <a:pt x="726901" y="0"/>
                    <a:pt x="817871" y="90970"/>
                    <a:pt x="817871" y="203200"/>
                  </a:cubicBezTo>
                  <a:cubicBezTo>
                    <a:pt x="817871" y="315430"/>
                    <a:pt x="726901" y="406400"/>
                    <a:pt x="614671" y="406400"/>
                  </a:cubicBezTo>
                  <a:lnTo>
                    <a:pt x="203200" y="406400"/>
                  </a:lnTo>
                  <a:cubicBezTo>
                    <a:pt x="90970" y="406400"/>
                    <a:pt x="0" y="315430"/>
                    <a:pt x="0" y="203200"/>
                  </a:cubicBezTo>
                  <a:cubicBezTo>
                    <a:pt x="0" y="90970"/>
                    <a:pt x="90970" y="0"/>
                    <a:pt x="203200" y="0"/>
                  </a:cubicBezTo>
                  <a:lnTo>
                    <a:pt x="614671" y="0"/>
                  </a:lnTo>
                </a:path>
              </a:pathLst>
            </a:custGeom>
            <a:blipFill>
              <a:blip r:embed="rId4"/>
              <a:stretch>
                <a:fillRect t="-17040" b="-17040"/>
              </a:stretch>
            </a:blipFill>
          </p:spPr>
          <p:txBody>
            <a:bodyPr/>
            <a:lstStyle/>
            <a:p>
              <a:endParaRPr lang="en-US"/>
            </a:p>
          </p:txBody>
        </p:sp>
      </p:grpSp>
      <p:grpSp>
        <p:nvGrpSpPr>
          <p:cNvPr id="8" name="Group 8"/>
          <p:cNvGrpSpPr/>
          <p:nvPr/>
        </p:nvGrpSpPr>
        <p:grpSpPr>
          <a:xfrm>
            <a:off x="12344400" y="4539833"/>
            <a:ext cx="4790733" cy="2872438"/>
            <a:chOff x="0" y="0"/>
            <a:chExt cx="817871" cy="406400"/>
          </a:xfrm>
        </p:grpSpPr>
        <p:sp>
          <p:nvSpPr>
            <p:cNvPr id="9" name="Freeform 9"/>
            <p:cNvSpPr/>
            <p:nvPr/>
          </p:nvSpPr>
          <p:spPr>
            <a:xfrm>
              <a:off x="0" y="0"/>
              <a:ext cx="817871" cy="406400"/>
            </a:xfrm>
            <a:custGeom>
              <a:avLst/>
              <a:gdLst/>
              <a:ahLst/>
              <a:cxnLst/>
              <a:rect l="l" t="t" r="r" b="b"/>
              <a:pathLst>
                <a:path w="817871" h="406400">
                  <a:moveTo>
                    <a:pt x="614671" y="0"/>
                  </a:moveTo>
                  <a:cubicBezTo>
                    <a:pt x="726901" y="0"/>
                    <a:pt x="817871" y="90970"/>
                    <a:pt x="817871" y="203200"/>
                  </a:cubicBezTo>
                  <a:cubicBezTo>
                    <a:pt x="817871" y="315430"/>
                    <a:pt x="726901" y="406400"/>
                    <a:pt x="614671" y="406400"/>
                  </a:cubicBezTo>
                  <a:lnTo>
                    <a:pt x="203200" y="406400"/>
                  </a:lnTo>
                  <a:cubicBezTo>
                    <a:pt x="90970" y="406400"/>
                    <a:pt x="0" y="315430"/>
                    <a:pt x="0" y="203200"/>
                  </a:cubicBezTo>
                  <a:cubicBezTo>
                    <a:pt x="0" y="90970"/>
                    <a:pt x="90970" y="0"/>
                    <a:pt x="203200" y="0"/>
                  </a:cubicBezTo>
                  <a:lnTo>
                    <a:pt x="614671" y="0"/>
                  </a:lnTo>
                </a:path>
              </a:pathLst>
            </a:custGeom>
            <a:blipFill>
              <a:blip r:embed="rId5"/>
              <a:stretch>
                <a:fillRect t="-3303" b="-30778"/>
              </a:stretch>
            </a:blipFill>
          </p:spPr>
          <p:txBody>
            <a:bodyPr/>
            <a:lstStyle/>
            <a:p>
              <a:endParaRPr lang="en-US"/>
            </a:p>
          </p:txBody>
        </p:sp>
      </p:grpSp>
      <p:sp>
        <p:nvSpPr>
          <p:cNvPr id="16" name="Freeform 16"/>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31" name="TextBox 31"/>
          <p:cNvSpPr txBox="1"/>
          <p:nvPr/>
        </p:nvSpPr>
        <p:spPr>
          <a:xfrm>
            <a:off x="1441440" y="2500443"/>
            <a:ext cx="7550159" cy="392352"/>
          </a:xfrm>
          <a:prstGeom prst="rect">
            <a:avLst/>
          </a:prstGeom>
        </p:spPr>
        <p:txBody>
          <a:bodyPr wrap="square" lIns="0" tIns="0" rIns="0" bIns="0" rtlCol="0" anchor="t">
            <a:spAutoFit/>
          </a:bodyPr>
          <a:lstStyle/>
          <a:p>
            <a:pPr marL="457200" indent="-457200">
              <a:lnSpc>
                <a:spcPts val="2944"/>
              </a:lnSpc>
              <a:spcBef>
                <a:spcPct val="0"/>
              </a:spcBef>
              <a:buFont typeface="Arial" panose="020B0604020202020204" pitchFamily="34" charset="0"/>
              <a:buChar char="•"/>
            </a:pPr>
            <a:r>
              <a:rPr lang="en-US" sz="3200" dirty="0"/>
              <a:t>People often ignore early stress symptoms</a:t>
            </a:r>
            <a:endParaRPr lang="en-US" sz="3000" spc="-29" dirty="0">
              <a:solidFill>
                <a:srgbClr val="171C20"/>
              </a:solidFill>
              <a:latin typeface="Poppins"/>
              <a:ea typeface="Poppins"/>
              <a:cs typeface="Poppins"/>
              <a:sym typeface="Poppins"/>
            </a:endParaRPr>
          </a:p>
        </p:txBody>
      </p:sp>
      <p:sp>
        <p:nvSpPr>
          <p:cNvPr id="33" name="TextBox 33"/>
          <p:cNvSpPr txBox="1"/>
          <p:nvPr/>
        </p:nvSpPr>
        <p:spPr>
          <a:xfrm>
            <a:off x="1396448" y="3703057"/>
            <a:ext cx="9423952" cy="392352"/>
          </a:xfrm>
          <a:prstGeom prst="rect">
            <a:avLst/>
          </a:prstGeom>
        </p:spPr>
        <p:txBody>
          <a:bodyPr wrap="square" lIns="0" tIns="0" rIns="0" bIns="0" rtlCol="0" anchor="t">
            <a:spAutoFit/>
          </a:bodyPr>
          <a:lstStyle/>
          <a:p>
            <a:pPr marL="457200" indent="-457200">
              <a:lnSpc>
                <a:spcPts val="2944"/>
              </a:lnSpc>
              <a:spcBef>
                <a:spcPct val="0"/>
              </a:spcBef>
              <a:buFont typeface="Arial" panose="020B0604020202020204" pitchFamily="34" charset="0"/>
              <a:buChar char="•"/>
            </a:pPr>
            <a:r>
              <a:rPr lang="en-US" sz="3200" dirty="0"/>
              <a:t>Hypertension is frequently detected at a later stage</a:t>
            </a:r>
            <a:endParaRPr lang="en-US" sz="3000" spc="-29" dirty="0">
              <a:solidFill>
                <a:srgbClr val="171C20"/>
              </a:solidFill>
              <a:latin typeface="Poppins"/>
              <a:ea typeface="Poppins"/>
              <a:cs typeface="Poppins"/>
              <a:sym typeface="Poppins"/>
            </a:endParaRPr>
          </a:p>
        </p:txBody>
      </p:sp>
      <p:sp>
        <p:nvSpPr>
          <p:cNvPr id="35" name="TextBox 35"/>
          <p:cNvSpPr txBox="1"/>
          <p:nvPr/>
        </p:nvSpPr>
        <p:spPr>
          <a:xfrm>
            <a:off x="1426692" y="3090179"/>
            <a:ext cx="6353684" cy="385234"/>
          </a:xfrm>
          <a:prstGeom prst="rect">
            <a:avLst/>
          </a:prstGeom>
        </p:spPr>
        <p:txBody>
          <a:bodyPr lIns="0" tIns="0" rIns="0" bIns="0" rtlCol="0" anchor="t">
            <a:spAutoFit/>
          </a:bodyPr>
          <a:lstStyle/>
          <a:p>
            <a:pPr marL="457200" indent="-457200">
              <a:lnSpc>
                <a:spcPts val="2944"/>
              </a:lnSpc>
              <a:spcBef>
                <a:spcPct val="0"/>
              </a:spcBef>
              <a:buFont typeface="Arial" panose="020B0604020202020204" pitchFamily="34" charset="0"/>
              <a:buChar char="•"/>
            </a:pPr>
            <a:r>
              <a:rPr lang="en-US" sz="3000" dirty="0"/>
              <a:t>Mental health support is limited</a:t>
            </a:r>
            <a:endParaRPr lang="en-US" sz="3000" spc="-29" dirty="0">
              <a:solidFill>
                <a:srgbClr val="171C20"/>
              </a:solidFill>
              <a:latin typeface="Poppins"/>
              <a:ea typeface="Poppins"/>
              <a:cs typeface="Poppins"/>
              <a:sym typeface="Poppins"/>
            </a:endParaRPr>
          </a:p>
        </p:txBody>
      </p:sp>
      <p:sp>
        <p:nvSpPr>
          <p:cNvPr id="37" name="TextBox 37"/>
          <p:cNvSpPr txBox="1"/>
          <p:nvPr/>
        </p:nvSpPr>
        <p:spPr>
          <a:xfrm>
            <a:off x="1410313" y="4336738"/>
            <a:ext cx="11315353" cy="392352"/>
          </a:xfrm>
          <a:prstGeom prst="rect">
            <a:avLst/>
          </a:prstGeom>
        </p:spPr>
        <p:txBody>
          <a:bodyPr wrap="square" lIns="0" tIns="0" rIns="0" bIns="0" rtlCol="0" anchor="t">
            <a:spAutoFit/>
          </a:bodyPr>
          <a:lstStyle/>
          <a:p>
            <a:pPr marL="457200" indent="-457200">
              <a:lnSpc>
                <a:spcPts val="2944"/>
              </a:lnSpc>
              <a:spcBef>
                <a:spcPct val="0"/>
              </a:spcBef>
              <a:buFont typeface="Arial" panose="020B0604020202020204" pitchFamily="34" charset="0"/>
              <a:buChar char="•"/>
            </a:pPr>
            <a:r>
              <a:rPr lang="en-US" sz="3200" dirty="0"/>
              <a:t>There is a need for a simple, interactive, and preventive solution</a:t>
            </a:r>
            <a:endParaRPr lang="en-US" sz="3000" spc="-29" dirty="0">
              <a:solidFill>
                <a:srgbClr val="171C20"/>
              </a:solidFill>
              <a:latin typeface="Poppins"/>
              <a:ea typeface="Poppins"/>
              <a:cs typeface="Poppins"/>
              <a:sym typeface="Poppins"/>
            </a:endParaRPr>
          </a:p>
        </p:txBody>
      </p:sp>
      <p:sp>
        <p:nvSpPr>
          <p:cNvPr id="46" name="TextBox 45">
            <a:extLst>
              <a:ext uri="{FF2B5EF4-FFF2-40B4-BE49-F238E27FC236}">
                <a16:creationId xmlns:a16="http://schemas.microsoft.com/office/drawing/2014/main" id="{A7CE9499-0188-E489-28F5-C2CF9CC8E215}"/>
              </a:ext>
            </a:extLst>
          </p:cNvPr>
          <p:cNvSpPr txBox="1"/>
          <p:nvPr/>
        </p:nvSpPr>
        <p:spPr>
          <a:xfrm>
            <a:off x="1409352" y="1560925"/>
            <a:ext cx="6178416" cy="553998"/>
          </a:xfrm>
          <a:prstGeom prst="rect">
            <a:avLst/>
          </a:prstGeom>
          <a:noFill/>
        </p:spPr>
        <p:txBody>
          <a:bodyPr wrap="square">
            <a:spAutoFit/>
          </a:bodyPr>
          <a:lstStyle/>
          <a:p>
            <a:r>
              <a:rPr lang="en-US" sz="3000" b="1" dirty="0">
                <a:solidFill>
                  <a:srgbClr val="85C9B4"/>
                </a:solidFill>
                <a:latin typeface="Poppins Medium" panose="00000600000000000000" pitchFamily="2" charset="0"/>
                <a:cs typeface="Poppins Medium" panose="00000600000000000000" pitchFamily="2" charset="0"/>
              </a:rPr>
              <a:t>Problem Statement</a:t>
            </a:r>
          </a:p>
        </p:txBody>
      </p:sp>
      <p:sp>
        <p:nvSpPr>
          <p:cNvPr id="19" name="TextBox 18">
            <a:extLst>
              <a:ext uri="{FF2B5EF4-FFF2-40B4-BE49-F238E27FC236}">
                <a16:creationId xmlns:a16="http://schemas.microsoft.com/office/drawing/2014/main" id="{EED17E36-7B48-7B90-0123-29AFA5BCD2BF}"/>
              </a:ext>
            </a:extLst>
          </p:cNvPr>
          <p:cNvSpPr txBox="1"/>
          <p:nvPr/>
        </p:nvSpPr>
        <p:spPr>
          <a:xfrm>
            <a:off x="1396448" y="447395"/>
            <a:ext cx="16251707" cy="784830"/>
          </a:xfrm>
          <a:prstGeom prst="rect">
            <a:avLst/>
          </a:prstGeom>
          <a:noFill/>
        </p:spPr>
        <p:txBody>
          <a:bodyPr wrap="square">
            <a:spAutoFit/>
          </a:bodyPr>
          <a:lstStyle/>
          <a:p>
            <a:r>
              <a:rPr lang="en-US" sz="4500" b="1" dirty="0"/>
              <a:t>A Domain-Specific AI Health Coach for Stress and Hypertension </a:t>
            </a:r>
            <a:endParaRPr lang="en-US" sz="4500" dirty="0"/>
          </a:p>
        </p:txBody>
      </p:sp>
      <p:sp>
        <p:nvSpPr>
          <p:cNvPr id="28" name="TextBox 24">
            <a:extLst>
              <a:ext uri="{FF2B5EF4-FFF2-40B4-BE49-F238E27FC236}">
                <a16:creationId xmlns:a16="http://schemas.microsoft.com/office/drawing/2014/main" id="{E36295DD-C170-81D1-2931-C18DBB0910DE}"/>
              </a:ext>
            </a:extLst>
          </p:cNvPr>
          <p:cNvSpPr txBox="1"/>
          <p:nvPr/>
        </p:nvSpPr>
        <p:spPr>
          <a:xfrm>
            <a:off x="1371868" y="5454553"/>
            <a:ext cx="11353799"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How the Solution Addresses the Sub-Problem</a:t>
            </a:r>
          </a:p>
        </p:txBody>
      </p:sp>
      <p:sp>
        <p:nvSpPr>
          <p:cNvPr id="42" name="TextBox 25">
            <a:extLst>
              <a:ext uri="{FF2B5EF4-FFF2-40B4-BE49-F238E27FC236}">
                <a16:creationId xmlns:a16="http://schemas.microsoft.com/office/drawing/2014/main" id="{8226D955-640D-38F5-CFB0-4413BB8033F2}"/>
              </a:ext>
            </a:extLst>
          </p:cNvPr>
          <p:cNvSpPr txBox="1"/>
          <p:nvPr/>
        </p:nvSpPr>
        <p:spPr>
          <a:xfrm>
            <a:off x="1371868" y="6527842"/>
            <a:ext cx="10408934" cy="33983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500" dirty="0">
                <a:solidFill>
                  <a:srgbClr val="171C20"/>
                </a:solidFill>
                <a:latin typeface="Poppins"/>
                <a:ea typeface="Poppins"/>
                <a:cs typeface="Poppins"/>
                <a:sym typeface="Poppins"/>
              </a:rPr>
              <a:t>Enables users to talk naturally about stress and well-being</a:t>
            </a:r>
          </a:p>
        </p:txBody>
      </p:sp>
      <p:sp>
        <p:nvSpPr>
          <p:cNvPr id="43" name="TextBox 25">
            <a:extLst>
              <a:ext uri="{FF2B5EF4-FFF2-40B4-BE49-F238E27FC236}">
                <a16:creationId xmlns:a16="http://schemas.microsoft.com/office/drawing/2014/main" id="{8D6456C6-903A-13B6-A916-0A949105972A}"/>
              </a:ext>
            </a:extLst>
          </p:cNvPr>
          <p:cNvSpPr txBox="1"/>
          <p:nvPr/>
        </p:nvSpPr>
        <p:spPr>
          <a:xfrm>
            <a:off x="1371868" y="7072434"/>
            <a:ext cx="8322780" cy="33983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500" dirty="0">
                <a:latin typeface="Poppins" panose="00000500000000000000" pitchFamily="2" charset="0"/>
                <a:cs typeface="Poppins" panose="00000500000000000000" pitchFamily="2" charset="0"/>
              </a:rPr>
              <a:t>Detects emotional stress using sentiment analysis</a:t>
            </a:r>
            <a:endParaRPr lang="en-US" sz="2500" dirty="0">
              <a:solidFill>
                <a:srgbClr val="171C20"/>
              </a:solidFill>
              <a:latin typeface="Poppins" panose="00000500000000000000" pitchFamily="2" charset="0"/>
              <a:ea typeface="Poppins"/>
              <a:cs typeface="Poppins" panose="00000500000000000000" pitchFamily="2" charset="0"/>
              <a:sym typeface="Poppins"/>
            </a:endParaRPr>
          </a:p>
        </p:txBody>
      </p:sp>
      <p:sp>
        <p:nvSpPr>
          <p:cNvPr id="44" name="TextBox 25">
            <a:extLst>
              <a:ext uri="{FF2B5EF4-FFF2-40B4-BE49-F238E27FC236}">
                <a16:creationId xmlns:a16="http://schemas.microsoft.com/office/drawing/2014/main" id="{AD8D0E75-C770-9AF6-07B9-DF4AF40C0D25}"/>
              </a:ext>
            </a:extLst>
          </p:cNvPr>
          <p:cNvSpPr txBox="1"/>
          <p:nvPr/>
        </p:nvSpPr>
        <p:spPr>
          <a:xfrm>
            <a:off x="1349745" y="7665991"/>
            <a:ext cx="11147055" cy="33983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500" dirty="0">
                <a:latin typeface="Poppins" panose="00000500000000000000" pitchFamily="2" charset="0"/>
                <a:cs typeface="Poppins" panose="00000500000000000000" pitchFamily="2" charset="0"/>
              </a:rPr>
              <a:t>Uses the validated PSS-10 questionnaire for stress assessment</a:t>
            </a:r>
            <a:endParaRPr lang="en-US" sz="2500" dirty="0">
              <a:solidFill>
                <a:srgbClr val="171C20"/>
              </a:solidFill>
              <a:latin typeface="Poppins" panose="00000500000000000000" pitchFamily="2" charset="0"/>
              <a:ea typeface="Poppins"/>
              <a:cs typeface="Poppins" panose="00000500000000000000" pitchFamily="2" charset="0"/>
              <a:sym typeface="Poppins"/>
            </a:endParaRPr>
          </a:p>
        </p:txBody>
      </p:sp>
      <p:sp>
        <p:nvSpPr>
          <p:cNvPr id="45" name="TextBox 25">
            <a:extLst>
              <a:ext uri="{FF2B5EF4-FFF2-40B4-BE49-F238E27FC236}">
                <a16:creationId xmlns:a16="http://schemas.microsoft.com/office/drawing/2014/main" id="{573A72A8-DFD9-E561-2BB2-3EECB43DA486}"/>
              </a:ext>
            </a:extLst>
          </p:cNvPr>
          <p:cNvSpPr txBox="1"/>
          <p:nvPr/>
        </p:nvSpPr>
        <p:spPr>
          <a:xfrm>
            <a:off x="1376782" y="8210583"/>
            <a:ext cx="10586617" cy="33983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500" dirty="0">
                <a:latin typeface="Poppins" panose="00000500000000000000" pitchFamily="2" charset="0"/>
                <a:cs typeface="Poppins" panose="00000500000000000000" pitchFamily="2" charset="0"/>
              </a:rPr>
              <a:t>Predicts stress levels early to reduce hypertension risk</a:t>
            </a:r>
            <a:endParaRPr lang="en-US" sz="2500" dirty="0">
              <a:solidFill>
                <a:srgbClr val="171C20"/>
              </a:solidFill>
              <a:latin typeface="Poppins" panose="00000500000000000000" pitchFamily="2" charset="0"/>
              <a:ea typeface="Poppins"/>
              <a:cs typeface="Poppins" panose="00000500000000000000" pitchFamily="2" charset="0"/>
              <a:sym typeface="Poppins"/>
            </a:endParaRPr>
          </a:p>
        </p:txBody>
      </p:sp>
      <p:sp>
        <p:nvSpPr>
          <p:cNvPr id="47" name="TextBox 25">
            <a:extLst>
              <a:ext uri="{FF2B5EF4-FFF2-40B4-BE49-F238E27FC236}">
                <a16:creationId xmlns:a16="http://schemas.microsoft.com/office/drawing/2014/main" id="{B82FC30B-8D8B-4063-4F63-2B0913C3FCD8}"/>
              </a:ext>
            </a:extLst>
          </p:cNvPr>
          <p:cNvSpPr txBox="1"/>
          <p:nvPr/>
        </p:nvSpPr>
        <p:spPr>
          <a:xfrm>
            <a:off x="1396448" y="8804140"/>
            <a:ext cx="9576352" cy="339837"/>
          </a:xfrm>
          <a:prstGeom prst="rect">
            <a:avLst/>
          </a:prstGeom>
        </p:spPr>
        <p:txBody>
          <a:bodyPr wrap="square" lIns="0" tIns="0" rIns="0" bIns="0" rtlCol="0" anchor="t">
            <a:spAutoFit/>
          </a:bodyPr>
          <a:lstStyle/>
          <a:p>
            <a:pPr marL="342900" indent="-342900" algn="just">
              <a:lnSpc>
                <a:spcPts val="2623"/>
              </a:lnSpc>
              <a:buFont typeface="Arial" panose="020B0604020202020204" pitchFamily="34" charset="0"/>
              <a:buChar char="•"/>
            </a:pPr>
            <a:r>
              <a:rPr lang="en-US" sz="2500" dirty="0">
                <a:latin typeface="Poppins" panose="00000500000000000000" pitchFamily="2" charset="0"/>
                <a:cs typeface="Poppins" panose="00000500000000000000" pitchFamily="2" charset="0"/>
              </a:rPr>
              <a:t>Provides culturally relevant Sri Lankan recommendations</a:t>
            </a:r>
            <a:endParaRPr lang="en-US" sz="2500" dirty="0">
              <a:solidFill>
                <a:srgbClr val="171C20"/>
              </a:solidFill>
              <a:latin typeface="Poppins" panose="00000500000000000000" pitchFamily="2" charset="0"/>
              <a:ea typeface="Poppins"/>
              <a:cs typeface="Poppins" panose="00000500000000000000" pitchFamily="2" charset="0"/>
              <a:sym typeface="Poppins"/>
            </a:endParaRPr>
          </a:p>
        </p:txBody>
      </p:sp>
      <p:grpSp>
        <p:nvGrpSpPr>
          <p:cNvPr id="10" name="Group 9">
            <a:extLst>
              <a:ext uri="{FF2B5EF4-FFF2-40B4-BE49-F238E27FC236}">
                <a16:creationId xmlns:a16="http://schemas.microsoft.com/office/drawing/2014/main" id="{99401B1F-2D06-B7DF-67E1-160D635EFFA7}"/>
              </a:ext>
            </a:extLst>
          </p:cNvPr>
          <p:cNvGrpSpPr/>
          <p:nvPr/>
        </p:nvGrpSpPr>
        <p:grpSpPr>
          <a:xfrm>
            <a:off x="15240" y="9480549"/>
            <a:ext cx="3666038" cy="811179"/>
            <a:chOff x="0" y="0"/>
            <a:chExt cx="1025531" cy="226918"/>
          </a:xfrm>
        </p:grpSpPr>
        <p:sp>
          <p:nvSpPr>
            <p:cNvPr id="11" name="Freeform 13">
              <a:extLst>
                <a:ext uri="{FF2B5EF4-FFF2-40B4-BE49-F238E27FC236}">
                  <a16:creationId xmlns:a16="http://schemas.microsoft.com/office/drawing/2014/main" id="{5D5FB5B1-83DE-31AF-3591-660A5D9DBD55}"/>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8"/>
              <a:stretch>
                <a:fillRect l="-921" r="-921"/>
              </a:stretch>
            </a:blipFill>
          </p:spPr>
          <p:txBody>
            <a:bodyPr/>
            <a:lstStyle/>
            <a:p>
              <a:endParaRPr lang="en-US"/>
            </a:p>
          </p:txBody>
        </p:sp>
      </p:grpSp>
      <p:sp>
        <p:nvSpPr>
          <p:cNvPr id="12" name="TextBox 11">
            <a:extLst>
              <a:ext uri="{FF2B5EF4-FFF2-40B4-BE49-F238E27FC236}">
                <a16:creationId xmlns:a16="http://schemas.microsoft.com/office/drawing/2014/main" id="{3E7C70EF-8AAE-93EA-E645-D8A6794C0474}"/>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31620" flipH="1">
            <a:off x="5277259" y="-646611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283342" y="-1659732"/>
            <a:ext cx="7847157" cy="784715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243219" y="2169087"/>
            <a:ext cx="4419073" cy="8148639"/>
            <a:chOff x="0" y="0"/>
            <a:chExt cx="660400" cy="1217758"/>
          </a:xfrm>
        </p:grpSpPr>
        <p:sp>
          <p:nvSpPr>
            <p:cNvPr id="7" name="Freeform 7"/>
            <p:cNvSpPr/>
            <p:nvPr/>
          </p:nvSpPr>
          <p:spPr>
            <a:xfrm>
              <a:off x="0" y="0"/>
              <a:ext cx="660400" cy="1217758"/>
            </a:xfrm>
            <a:custGeom>
              <a:avLst/>
              <a:gdLst/>
              <a:ahLst/>
              <a:cxnLst/>
              <a:rect l="l" t="t" r="r" b="b"/>
              <a:pathLst>
                <a:path w="660400" h="121775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7497"/>
                  </a:cubicBezTo>
                  <a:lnTo>
                    <a:pt x="660400" y="1217758"/>
                  </a:lnTo>
                  <a:lnTo>
                    <a:pt x="0" y="1217758"/>
                  </a:lnTo>
                  <a:lnTo>
                    <a:pt x="0" y="338151"/>
                  </a:lnTo>
                  <a:cubicBezTo>
                    <a:pt x="1782" y="185660"/>
                    <a:pt x="93019" y="64045"/>
                    <a:pt x="220252" y="19070"/>
                  </a:cubicBezTo>
                  <a:close/>
                </a:path>
              </a:pathLst>
            </a:custGeom>
            <a:blipFill>
              <a:blip r:embed="rId4"/>
              <a:stretch>
                <a:fillRect r="-22854"/>
              </a:stretch>
            </a:blipFill>
          </p:spPr>
          <p:txBody>
            <a:bodyPr/>
            <a:lstStyle/>
            <a:p>
              <a:endParaRPr lang="en-US"/>
            </a:p>
          </p:txBody>
        </p:sp>
      </p:grpSp>
      <p:sp>
        <p:nvSpPr>
          <p:cNvPr id="11" name="Freeform 11"/>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5" name="Group 15"/>
          <p:cNvGrpSpPr/>
          <p:nvPr/>
        </p:nvGrpSpPr>
        <p:grpSpPr>
          <a:xfrm>
            <a:off x="11267812" y="1182423"/>
            <a:ext cx="300229" cy="30022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2036025" y="872188"/>
            <a:ext cx="39377" cy="393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8" name="TextBox 17">
            <a:extLst>
              <a:ext uri="{FF2B5EF4-FFF2-40B4-BE49-F238E27FC236}">
                <a16:creationId xmlns:a16="http://schemas.microsoft.com/office/drawing/2014/main" id="{068BC20D-B441-EBCF-A98C-50E23107E9E7}"/>
              </a:ext>
            </a:extLst>
          </p:cNvPr>
          <p:cNvSpPr txBox="1"/>
          <p:nvPr/>
        </p:nvSpPr>
        <p:spPr>
          <a:xfrm>
            <a:off x="846715" y="500410"/>
            <a:ext cx="15327246"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a:ea typeface="+mn-ea"/>
                <a:cs typeface="+mn-cs"/>
              </a:rPr>
              <a:t>A Domain-Specific AI Health Coach for Stress and Hypertension </a:t>
            </a:r>
            <a:endParaRPr kumimoji="0" lang="en-US" sz="45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Box 24">
            <a:extLst>
              <a:ext uri="{FF2B5EF4-FFF2-40B4-BE49-F238E27FC236}">
                <a16:creationId xmlns:a16="http://schemas.microsoft.com/office/drawing/2014/main" id="{183F52BC-F774-611B-3A2C-658ADE6B4D65}"/>
              </a:ext>
            </a:extLst>
          </p:cNvPr>
          <p:cNvSpPr txBox="1"/>
          <p:nvPr/>
        </p:nvSpPr>
        <p:spPr>
          <a:xfrm>
            <a:off x="860896" y="1530630"/>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User Requirements Addressed by the Solution</a:t>
            </a:r>
          </a:p>
        </p:txBody>
      </p:sp>
      <p:sp>
        <p:nvSpPr>
          <p:cNvPr id="35" name="TextBox 25">
            <a:extLst>
              <a:ext uri="{FF2B5EF4-FFF2-40B4-BE49-F238E27FC236}">
                <a16:creationId xmlns:a16="http://schemas.microsoft.com/office/drawing/2014/main" id="{A943DC97-26CD-C1DE-70D1-45D746DBDC98}"/>
              </a:ext>
            </a:extLst>
          </p:cNvPr>
          <p:cNvSpPr txBox="1"/>
          <p:nvPr/>
        </p:nvSpPr>
        <p:spPr>
          <a:xfrm>
            <a:off x="860896" y="2584523"/>
            <a:ext cx="9121304" cy="356380"/>
          </a:xfrm>
          <a:prstGeom prst="rect">
            <a:avLst/>
          </a:prstGeom>
        </p:spPr>
        <p:txBody>
          <a:bodyPr wrap="square" lIns="0" tIns="0" rIns="0" bIns="0" rtlCol="0" anchor="t">
            <a:spAutoFit/>
          </a:bodyPr>
          <a:lstStyle/>
          <a:p>
            <a:pPr marL="457200" indent="-457200" algn="just">
              <a:lnSpc>
                <a:spcPts val="2623"/>
              </a:lnSpc>
              <a:buFont typeface="Arial" panose="020B0604020202020204" pitchFamily="34" charset="0"/>
              <a:buChar char="•"/>
            </a:pPr>
            <a:r>
              <a:rPr lang="en-US" sz="3000" dirty="0"/>
              <a:t>Users can express feelings using natural language</a:t>
            </a:r>
            <a:endParaRPr lang="en-US" sz="3000" dirty="0">
              <a:solidFill>
                <a:srgbClr val="171C20"/>
              </a:solidFill>
              <a:latin typeface="Poppins"/>
              <a:ea typeface="Poppins"/>
              <a:cs typeface="Poppins"/>
              <a:sym typeface="Poppins"/>
            </a:endParaRPr>
          </a:p>
        </p:txBody>
      </p:sp>
      <p:sp>
        <p:nvSpPr>
          <p:cNvPr id="37" name="TextBox 36">
            <a:extLst>
              <a:ext uri="{FF2B5EF4-FFF2-40B4-BE49-F238E27FC236}">
                <a16:creationId xmlns:a16="http://schemas.microsoft.com/office/drawing/2014/main" id="{0E0705F7-049F-5E9C-983E-4BD188F69955}"/>
              </a:ext>
            </a:extLst>
          </p:cNvPr>
          <p:cNvSpPr txBox="1"/>
          <p:nvPr/>
        </p:nvSpPr>
        <p:spPr>
          <a:xfrm>
            <a:off x="768749" y="3018606"/>
            <a:ext cx="10065774" cy="553998"/>
          </a:xfrm>
          <a:prstGeom prst="rect">
            <a:avLst/>
          </a:prstGeom>
          <a:noFill/>
        </p:spPr>
        <p:txBody>
          <a:bodyPr wrap="square">
            <a:spAutoFit/>
          </a:bodyPr>
          <a:lstStyle/>
          <a:p>
            <a:pPr marL="457200" indent="-457200">
              <a:buFont typeface="Arial" panose="020B0604020202020204" pitchFamily="34" charset="0"/>
              <a:buChar char="•"/>
            </a:pPr>
            <a:r>
              <a:rPr lang="en-US" sz="3000" dirty="0"/>
              <a:t>Users can check their stress level on demand</a:t>
            </a:r>
          </a:p>
        </p:txBody>
      </p:sp>
      <p:sp>
        <p:nvSpPr>
          <p:cNvPr id="39" name="TextBox 38">
            <a:extLst>
              <a:ext uri="{FF2B5EF4-FFF2-40B4-BE49-F238E27FC236}">
                <a16:creationId xmlns:a16="http://schemas.microsoft.com/office/drawing/2014/main" id="{DCAA194C-E8F6-076B-2C0E-2AD2DD836B86}"/>
              </a:ext>
            </a:extLst>
          </p:cNvPr>
          <p:cNvSpPr txBox="1"/>
          <p:nvPr/>
        </p:nvSpPr>
        <p:spPr>
          <a:xfrm>
            <a:off x="768749" y="3663097"/>
            <a:ext cx="10065774" cy="553998"/>
          </a:xfrm>
          <a:prstGeom prst="rect">
            <a:avLst/>
          </a:prstGeom>
          <a:noFill/>
        </p:spPr>
        <p:txBody>
          <a:bodyPr wrap="square">
            <a:spAutoFit/>
          </a:bodyPr>
          <a:lstStyle/>
          <a:p>
            <a:pPr marL="457200" indent="-457200">
              <a:buFont typeface="Arial" panose="020B0604020202020204" pitchFamily="34" charset="0"/>
              <a:buChar char="•"/>
            </a:pPr>
            <a:r>
              <a:rPr lang="en-US" sz="3000" dirty="0"/>
              <a:t>Users receive non-medical, preventive guidance</a:t>
            </a:r>
          </a:p>
        </p:txBody>
      </p:sp>
      <p:sp>
        <p:nvSpPr>
          <p:cNvPr id="41" name="TextBox 40">
            <a:extLst>
              <a:ext uri="{FF2B5EF4-FFF2-40B4-BE49-F238E27FC236}">
                <a16:creationId xmlns:a16="http://schemas.microsoft.com/office/drawing/2014/main" id="{5871AC32-8CC9-010F-0F3D-4E56DFA6EA8F}"/>
              </a:ext>
            </a:extLst>
          </p:cNvPr>
          <p:cNvSpPr txBox="1"/>
          <p:nvPr/>
        </p:nvSpPr>
        <p:spPr>
          <a:xfrm>
            <a:off x="790053" y="4229965"/>
            <a:ext cx="10065774" cy="553998"/>
          </a:xfrm>
          <a:prstGeom prst="rect">
            <a:avLst/>
          </a:prstGeom>
          <a:noFill/>
        </p:spPr>
        <p:txBody>
          <a:bodyPr wrap="square">
            <a:spAutoFit/>
          </a:bodyPr>
          <a:lstStyle/>
          <a:p>
            <a:pPr marL="457200" indent="-457200">
              <a:buFont typeface="Arial" panose="020B0604020202020204" pitchFamily="34" charset="0"/>
              <a:buChar char="•"/>
            </a:pPr>
            <a:r>
              <a:rPr lang="en-US" sz="3000" dirty="0"/>
              <a:t>Users can ask hypertension-related questions</a:t>
            </a:r>
          </a:p>
        </p:txBody>
      </p:sp>
      <p:sp>
        <p:nvSpPr>
          <p:cNvPr id="43" name="TextBox 42">
            <a:extLst>
              <a:ext uri="{FF2B5EF4-FFF2-40B4-BE49-F238E27FC236}">
                <a16:creationId xmlns:a16="http://schemas.microsoft.com/office/drawing/2014/main" id="{9DA5BD71-DC90-7528-DA0D-76A05CA69926}"/>
              </a:ext>
            </a:extLst>
          </p:cNvPr>
          <p:cNvSpPr txBox="1"/>
          <p:nvPr/>
        </p:nvSpPr>
        <p:spPr>
          <a:xfrm>
            <a:off x="822007" y="6254072"/>
            <a:ext cx="12474469" cy="553998"/>
          </a:xfrm>
          <a:prstGeom prst="rect">
            <a:avLst/>
          </a:prstGeom>
          <a:noFill/>
        </p:spPr>
        <p:txBody>
          <a:bodyPr wrap="square">
            <a:spAutoFit/>
          </a:bodyPr>
          <a:lstStyle/>
          <a:p>
            <a:pPr marL="457200" indent="-457200">
              <a:buFont typeface="Arial" panose="020B0604020202020204" pitchFamily="34" charset="0"/>
              <a:buChar char="•"/>
            </a:pPr>
            <a:r>
              <a:rPr lang="en-US" sz="3000" dirty="0"/>
              <a:t>Conversational health coach approach</a:t>
            </a:r>
          </a:p>
        </p:txBody>
      </p:sp>
      <p:sp>
        <p:nvSpPr>
          <p:cNvPr id="44" name="TextBox 24">
            <a:extLst>
              <a:ext uri="{FF2B5EF4-FFF2-40B4-BE49-F238E27FC236}">
                <a16:creationId xmlns:a16="http://schemas.microsoft.com/office/drawing/2014/main" id="{9B48981C-35C4-EF98-6949-660D7897C557}"/>
              </a:ext>
            </a:extLst>
          </p:cNvPr>
          <p:cNvSpPr txBox="1"/>
          <p:nvPr/>
        </p:nvSpPr>
        <p:spPr>
          <a:xfrm>
            <a:off x="860896" y="5451754"/>
            <a:ext cx="9659830" cy="657103"/>
          </a:xfrm>
          <a:prstGeom prst="rect">
            <a:avLst/>
          </a:prstGeom>
        </p:spPr>
        <p:txBody>
          <a:bodyPr wrap="square" lIns="0" tIns="0" rIns="0" bIns="0" rtlCol="0" anchor="t">
            <a:spAutoFit/>
          </a:bodyPr>
          <a:lstStyle/>
          <a:p>
            <a:pPr algn="l">
              <a:lnSpc>
                <a:spcPts val="5567"/>
              </a:lnSpc>
            </a:pPr>
            <a:r>
              <a:rPr lang="en-US" sz="3300" b="1" spc="-67" dirty="0">
                <a:solidFill>
                  <a:srgbClr val="85C9B4"/>
                </a:solidFill>
                <a:latin typeface="Poppins Semi-Bold"/>
                <a:ea typeface="Poppins Semi-Bold"/>
                <a:cs typeface="Poppins Semi-Bold"/>
                <a:sym typeface="Poppins Semi-Bold"/>
              </a:rPr>
              <a:t>Design Excellence</a:t>
            </a:r>
          </a:p>
        </p:txBody>
      </p:sp>
      <p:sp>
        <p:nvSpPr>
          <p:cNvPr id="46" name="TextBox 45">
            <a:extLst>
              <a:ext uri="{FF2B5EF4-FFF2-40B4-BE49-F238E27FC236}">
                <a16:creationId xmlns:a16="http://schemas.microsoft.com/office/drawing/2014/main" id="{A5B3028E-C71F-D1FE-60AE-0D2137EEEF42}"/>
              </a:ext>
            </a:extLst>
          </p:cNvPr>
          <p:cNvSpPr txBox="1"/>
          <p:nvPr/>
        </p:nvSpPr>
        <p:spPr>
          <a:xfrm>
            <a:off x="785954" y="4796833"/>
            <a:ext cx="10065774" cy="553998"/>
          </a:xfrm>
          <a:prstGeom prst="rect">
            <a:avLst/>
          </a:prstGeom>
          <a:noFill/>
        </p:spPr>
        <p:txBody>
          <a:bodyPr wrap="square">
            <a:spAutoFit/>
          </a:bodyPr>
          <a:lstStyle/>
          <a:p>
            <a:pPr marL="457200" indent="-457200">
              <a:buFont typeface="Arial" panose="020B0604020202020204" pitchFamily="34" charset="0"/>
              <a:buChar char="•"/>
            </a:pPr>
            <a:r>
              <a:rPr lang="en-US" sz="3000" dirty="0"/>
              <a:t>Users are guided safely during emotional distress</a:t>
            </a:r>
          </a:p>
        </p:txBody>
      </p:sp>
      <p:sp>
        <p:nvSpPr>
          <p:cNvPr id="49" name="TextBox 48">
            <a:extLst>
              <a:ext uri="{FF2B5EF4-FFF2-40B4-BE49-F238E27FC236}">
                <a16:creationId xmlns:a16="http://schemas.microsoft.com/office/drawing/2014/main" id="{53832DCA-1D24-FBF9-B5B5-C5EA901E961D}"/>
              </a:ext>
            </a:extLst>
          </p:cNvPr>
          <p:cNvSpPr txBox="1"/>
          <p:nvPr/>
        </p:nvSpPr>
        <p:spPr>
          <a:xfrm>
            <a:off x="814633" y="6816234"/>
            <a:ext cx="12474469" cy="553998"/>
          </a:xfrm>
          <a:prstGeom prst="rect">
            <a:avLst/>
          </a:prstGeom>
          <a:noFill/>
        </p:spPr>
        <p:txBody>
          <a:bodyPr wrap="square">
            <a:spAutoFit/>
          </a:bodyPr>
          <a:lstStyle/>
          <a:p>
            <a:pPr marL="457200" indent="-457200">
              <a:buFont typeface="Arial" panose="020B0604020202020204" pitchFamily="34" charset="0"/>
              <a:buChar char="•"/>
            </a:pPr>
            <a:r>
              <a:rPr lang="en-US" sz="3000" dirty="0"/>
              <a:t>Ethical design with clear non-diagnostic warnings</a:t>
            </a:r>
          </a:p>
        </p:txBody>
      </p:sp>
      <p:sp>
        <p:nvSpPr>
          <p:cNvPr id="50" name="TextBox 49">
            <a:extLst>
              <a:ext uri="{FF2B5EF4-FFF2-40B4-BE49-F238E27FC236}">
                <a16:creationId xmlns:a16="http://schemas.microsoft.com/office/drawing/2014/main" id="{92F4CCDA-BED8-4A6E-C303-67F9FD6304C8}"/>
              </a:ext>
            </a:extLst>
          </p:cNvPr>
          <p:cNvSpPr txBox="1"/>
          <p:nvPr/>
        </p:nvSpPr>
        <p:spPr>
          <a:xfrm>
            <a:off x="797427" y="7412770"/>
            <a:ext cx="12474469" cy="553998"/>
          </a:xfrm>
          <a:prstGeom prst="rect">
            <a:avLst/>
          </a:prstGeom>
          <a:noFill/>
        </p:spPr>
        <p:txBody>
          <a:bodyPr wrap="square">
            <a:spAutoFit/>
          </a:bodyPr>
          <a:lstStyle/>
          <a:p>
            <a:pPr marL="457200" indent="-457200">
              <a:buFont typeface="Arial" panose="020B0604020202020204" pitchFamily="34" charset="0"/>
              <a:buChar char="•"/>
            </a:pPr>
            <a:r>
              <a:rPr lang="en-US" sz="3000" dirty="0"/>
              <a:t>Crisis keyword detection with emergency guidance</a:t>
            </a:r>
          </a:p>
        </p:txBody>
      </p:sp>
      <p:sp>
        <p:nvSpPr>
          <p:cNvPr id="51" name="TextBox 50">
            <a:extLst>
              <a:ext uri="{FF2B5EF4-FFF2-40B4-BE49-F238E27FC236}">
                <a16:creationId xmlns:a16="http://schemas.microsoft.com/office/drawing/2014/main" id="{A8129084-2CDF-D9BC-0AB5-4130417C79EB}"/>
              </a:ext>
            </a:extLst>
          </p:cNvPr>
          <p:cNvSpPr txBox="1"/>
          <p:nvPr/>
        </p:nvSpPr>
        <p:spPr>
          <a:xfrm>
            <a:off x="797427" y="8010310"/>
            <a:ext cx="12474469" cy="553998"/>
          </a:xfrm>
          <a:prstGeom prst="rect">
            <a:avLst/>
          </a:prstGeom>
          <a:noFill/>
        </p:spPr>
        <p:txBody>
          <a:bodyPr wrap="square">
            <a:spAutoFit/>
          </a:bodyPr>
          <a:lstStyle/>
          <a:p>
            <a:pPr marL="457200" indent="-457200">
              <a:buFont typeface="Arial" panose="020B0604020202020204" pitchFamily="34" charset="0"/>
              <a:buChar char="•"/>
            </a:pPr>
            <a:r>
              <a:rPr lang="en-US" sz="3000" dirty="0"/>
              <a:t>Sri Lankan lifestyle and cultural context integration</a:t>
            </a:r>
          </a:p>
        </p:txBody>
      </p:sp>
      <p:sp>
        <p:nvSpPr>
          <p:cNvPr id="52" name="TextBox 51">
            <a:extLst>
              <a:ext uri="{FF2B5EF4-FFF2-40B4-BE49-F238E27FC236}">
                <a16:creationId xmlns:a16="http://schemas.microsoft.com/office/drawing/2014/main" id="{316EAAD1-27B8-A8C7-8B45-9E4CDF202BFE}"/>
              </a:ext>
            </a:extLst>
          </p:cNvPr>
          <p:cNvSpPr txBox="1"/>
          <p:nvPr/>
        </p:nvSpPr>
        <p:spPr>
          <a:xfrm>
            <a:off x="814633" y="8617679"/>
            <a:ext cx="12474469" cy="553998"/>
          </a:xfrm>
          <a:prstGeom prst="rect">
            <a:avLst/>
          </a:prstGeom>
          <a:noFill/>
        </p:spPr>
        <p:txBody>
          <a:bodyPr wrap="square">
            <a:spAutoFit/>
          </a:bodyPr>
          <a:lstStyle/>
          <a:p>
            <a:pPr marL="457200" indent="-457200">
              <a:buFont typeface="Arial" panose="020B0604020202020204" pitchFamily="34" charset="0"/>
              <a:buChar char="•"/>
            </a:pPr>
            <a:r>
              <a:rPr lang="en-US" sz="3000" dirty="0"/>
              <a:t>Provides a conversational health coach experience</a:t>
            </a:r>
          </a:p>
        </p:txBody>
      </p:sp>
      <p:grpSp>
        <p:nvGrpSpPr>
          <p:cNvPr id="9" name="Group 8">
            <a:extLst>
              <a:ext uri="{FF2B5EF4-FFF2-40B4-BE49-F238E27FC236}">
                <a16:creationId xmlns:a16="http://schemas.microsoft.com/office/drawing/2014/main" id="{4B774D9B-96EE-3893-C6FF-0D11A96D9A40}"/>
              </a:ext>
            </a:extLst>
          </p:cNvPr>
          <p:cNvGrpSpPr/>
          <p:nvPr/>
        </p:nvGrpSpPr>
        <p:grpSpPr>
          <a:xfrm>
            <a:off x="15240" y="9480549"/>
            <a:ext cx="3666038" cy="811179"/>
            <a:chOff x="0" y="0"/>
            <a:chExt cx="1025531" cy="226918"/>
          </a:xfrm>
        </p:grpSpPr>
        <p:sp>
          <p:nvSpPr>
            <p:cNvPr id="10" name="Freeform 13">
              <a:extLst>
                <a:ext uri="{FF2B5EF4-FFF2-40B4-BE49-F238E27FC236}">
                  <a16:creationId xmlns:a16="http://schemas.microsoft.com/office/drawing/2014/main" id="{6F8E899E-3102-E783-1F2F-4DBBF4424BEB}"/>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7"/>
              <a:stretch>
                <a:fillRect l="-921" r="-921"/>
              </a:stretch>
            </a:blipFill>
          </p:spPr>
          <p:txBody>
            <a:bodyPr/>
            <a:lstStyle/>
            <a:p>
              <a:endParaRPr lang="en-US"/>
            </a:p>
          </p:txBody>
        </p:sp>
      </p:grpSp>
      <p:sp>
        <p:nvSpPr>
          <p:cNvPr id="12" name="TextBox 11">
            <a:extLst>
              <a:ext uri="{FF2B5EF4-FFF2-40B4-BE49-F238E27FC236}">
                <a16:creationId xmlns:a16="http://schemas.microsoft.com/office/drawing/2014/main" id="{C4F27BC0-E141-8C60-A861-6B0D2A964D30}"/>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A192-49DE-DE9A-9D91-44DDDD046B71}"/>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A3B9907-81FB-B309-ADEE-C4426F6A7BDE}"/>
              </a:ext>
            </a:extLst>
          </p:cNvPr>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43541C65-24A7-0A0B-6C7B-DB147D89FB9A}"/>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B00C8BFD-9EB9-796F-A0EC-A721E569FD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22922CBD-65D9-8362-9D1D-3846CBB1F440}"/>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4" name="TextBox 24">
            <a:extLst>
              <a:ext uri="{FF2B5EF4-FFF2-40B4-BE49-F238E27FC236}">
                <a16:creationId xmlns:a16="http://schemas.microsoft.com/office/drawing/2014/main" id="{06576CFC-88D1-D123-C011-B2DC29089392}"/>
              </a:ext>
            </a:extLst>
          </p:cNvPr>
          <p:cNvSpPr txBox="1"/>
          <p:nvPr/>
        </p:nvSpPr>
        <p:spPr>
          <a:xfrm>
            <a:off x="921036" y="4979683"/>
            <a:ext cx="6013164"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Semi-Bold"/>
                <a:ea typeface="Poppins Semi-Bold"/>
                <a:cs typeface="Poppins Semi-Bold"/>
                <a:sym typeface="Poppins Semi-Bold"/>
              </a:rPr>
              <a:t>Testing Summary Table</a:t>
            </a:r>
          </a:p>
        </p:txBody>
      </p:sp>
      <p:sp>
        <p:nvSpPr>
          <p:cNvPr id="2" name="TextBox 1">
            <a:extLst>
              <a:ext uri="{FF2B5EF4-FFF2-40B4-BE49-F238E27FC236}">
                <a16:creationId xmlns:a16="http://schemas.microsoft.com/office/drawing/2014/main" id="{22924907-1BDD-7101-0BB3-9D591EA9BDE7}"/>
              </a:ext>
            </a:extLst>
          </p:cNvPr>
          <p:cNvSpPr txBox="1"/>
          <p:nvPr/>
        </p:nvSpPr>
        <p:spPr>
          <a:xfrm>
            <a:off x="921037" y="267108"/>
            <a:ext cx="15327246"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a:ea typeface="+mn-ea"/>
                <a:cs typeface="+mn-cs"/>
              </a:rPr>
              <a:t>A Domain-Specific AI Health Coach for Stress and Hypertension </a:t>
            </a:r>
            <a:endParaRPr kumimoji="0" lang="en-US" sz="4500" b="0"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6" name="Table 5">
            <a:extLst>
              <a:ext uri="{FF2B5EF4-FFF2-40B4-BE49-F238E27FC236}">
                <a16:creationId xmlns:a16="http://schemas.microsoft.com/office/drawing/2014/main" id="{9FEFBAB2-9F20-D3F5-D92D-3CC3CD4EF172}"/>
              </a:ext>
            </a:extLst>
          </p:cNvPr>
          <p:cNvGraphicFramePr>
            <a:graphicFrameLocks noGrp="1"/>
          </p:cNvGraphicFramePr>
          <p:nvPr/>
        </p:nvGraphicFramePr>
        <p:xfrm>
          <a:off x="938242" y="5885298"/>
          <a:ext cx="9729759" cy="2915800"/>
        </p:xfrm>
        <a:graphic>
          <a:graphicData uri="http://schemas.openxmlformats.org/drawingml/2006/table">
            <a:tbl>
              <a:tblPr firstRow="1" bandRow="1">
                <a:tableStyleId>{5C22544A-7EE6-4342-B048-85BDC9FD1C3A}</a:tableStyleId>
              </a:tblPr>
              <a:tblGrid>
                <a:gridCol w="2432440">
                  <a:extLst>
                    <a:ext uri="{9D8B030D-6E8A-4147-A177-3AD203B41FA5}">
                      <a16:colId xmlns:a16="http://schemas.microsoft.com/office/drawing/2014/main" val="2224997614"/>
                    </a:ext>
                  </a:extLst>
                </a:gridCol>
                <a:gridCol w="2432440">
                  <a:extLst>
                    <a:ext uri="{9D8B030D-6E8A-4147-A177-3AD203B41FA5}">
                      <a16:colId xmlns:a16="http://schemas.microsoft.com/office/drawing/2014/main" val="672910307"/>
                    </a:ext>
                  </a:extLst>
                </a:gridCol>
                <a:gridCol w="2628236">
                  <a:extLst>
                    <a:ext uri="{9D8B030D-6E8A-4147-A177-3AD203B41FA5}">
                      <a16:colId xmlns:a16="http://schemas.microsoft.com/office/drawing/2014/main" val="560644639"/>
                    </a:ext>
                  </a:extLst>
                </a:gridCol>
                <a:gridCol w="2236643">
                  <a:extLst>
                    <a:ext uri="{9D8B030D-6E8A-4147-A177-3AD203B41FA5}">
                      <a16:colId xmlns:a16="http://schemas.microsoft.com/office/drawing/2014/main" val="749800466"/>
                    </a:ext>
                  </a:extLst>
                </a:gridCol>
              </a:tblGrid>
              <a:tr h="583160">
                <a:tc>
                  <a:txBody>
                    <a:bodyPr/>
                    <a:lstStyle/>
                    <a:p>
                      <a:r>
                        <a:rPr lang="en-US" dirty="0"/>
                        <a:t>  Test Case</a:t>
                      </a:r>
                    </a:p>
                  </a:txBody>
                  <a:tcPr/>
                </a:tc>
                <a:tc>
                  <a:txBody>
                    <a:bodyPr/>
                    <a:lstStyle/>
                    <a:p>
                      <a:r>
                        <a:rPr lang="en-US" dirty="0"/>
                        <a:t>  Input </a:t>
                      </a:r>
                    </a:p>
                  </a:txBody>
                  <a:tcPr/>
                </a:tc>
                <a:tc>
                  <a:txBody>
                    <a:bodyPr/>
                    <a:lstStyle/>
                    <a:p>
                      <a:r>
                        <a:rPr lang="en-US" dirty="0"/>
                        <a:t>  Expected Output</a:t>
                      </a:r>
                    </a:p>
                  </a:txBody>
                  <a:tcPr/>
                </a:tc>
                <a:tc>
                  <a:txBody>
                    <a:bodyPr/>
                    <a:lstStyle/>
                    <a:p>
                      <a:r>
                        <a:rPr lang="en-US" dirty="0"/>
                        <a:t> Result</a:t>
                      </a:r>
                    </a:p>
                  </a:txBody>
                  <a:tcPr/>
                </a:tc>
                <a:extLst>
                  <a:ext uri="{0D108BD9-81ED-4DB2-BD59-A6C34878D82A}">
                    <a16:rowId xmlns:a16="http://schemas.microsoft.com/office/drawing/2014/main" val="112006140"/>
                  </a:ext>
                </a:extLst>
              </a:tr>
              <a:tr h="583160">
                <a:tc>
                  <a:txBody>
                    <a:bodyPr/>
                    <a:lstStyle/>
                    <a:p>
                      <a:r>
                        <a:rPr lang="en-US" b="1" dirty="0"/>
                        <a:t>   TC - 01</a:t>
                      </a:r>
                    </a:p>
                  </a:txBody>
                  <a:tcPr/>
                </a:tc>
                <a:tc>
                  <a:txBody>
                    <a:bodyPr/>
                    <a:lstStyle/>
                    <a:p>
                      <a:r>
                        <a:rPr lang="en-US" b="1" dirty="0"/>
                        <a:t>  I feel Stress</a:t>
                      </a:r>
                    </a:p>
                  </a:txBody>
                  <a:tcPr/>
                </a:tc>
                <a:tc>
                  <a:txBody>
                    <a:bodyPr/>
                    <a:lstStyle/>
                    <a:p>
                      <a:r>
                        <a:rPr lang="en-US" b="1" dirty="0"/>
                        <a:t> Stress detected</a:t>
                      </a:r>
                    </a:p>
                  </a:txBody>
                  <a:tcPr/>
                </a:tc>
                <a:tc>
                  <a:txBody>
                    <a:bodyPr/>
                    <a:lstStyle/>
                    <a:p>
                      <a:r>
                        <a:rPr lang="en-US" b="1" dirty="0"/>
                        <a:t> Pass</a:t>
                      </a:r>
                    </a:p>
                  </a:txBody>
                  <a:tcPr/>
                </a:tc>
                <a:extLst>
                  <a:ext uri="{0D108BD9-81ED-4DB2-BD59-A6C34878D82A}">
                    <a16:rowId xmlns:a16="http://schemas.microsoft.com/office/drawing/2014/main" val="3885250848"/>
                  </a:ext>
                </a:extLst>
              </a:tr>
              <a:tr h="583160">
                <a:tc>
                  <a:txBody>
                    <a:bodyPr/>
                    <a:lstStyle/>
                    <a:p>
                      <a:r>
                        <a:rPr lang="en-US" b="1" dirty="0"/>
                        <a:t>   TC - 02</a:t>
                      </a:r>
                    </a:p>
                  </a:txBody>
                  <a:tcPr/>
                </a:tc>
                <a:tc>
                  <a:txBody>
                    <a:bodyPr/>
                    <a:lstStyle/>
                    <a:p>
                      <a:r>
                        <a:rPr lang="en-US" b="1" dirty="0"/>
                        <a:t>  I feel okay</a:t>
                      </a:r>
                    </a:p>
                  </a:txBody>
                  <a:tcPr/>
                </a:tc>
                <a:tc>
                  <a:txBody>
                    <a:bodyPr/>
                    <a:lstStyle/>
                    <a:p>
                      <a:r>
                        <a:rPr lang="en-US" b="1" dirty="0"/>
                        <a:t> Low Stress</a:t>
                      </a:r>
                    </a:p>
                  </a:txBody>
                  <a:tcPr/>
                </a:tc>
                <a:tc>
                  <a:txBody>
                    <a:bodyPr/>
                    <a:lstStyle/>
                    <a:p>
                      <a:r>
                        <a:rPr lang="en-US" b="1" dirty="0"/>
                        <a:t> Pass</a:t>
                      </a:r>
                    </a:p>
                  </a:txBody>
                  <a:tcPr/>
                </a:tc>
                <a:extLst>
                  <a:ext uri="{0D108BD9-81ED-4DB2-BD59-A6C34878D82A}">
                    <a16:rowId xmlns:a16="http://schemas.microsoft.com/office/drawing/2014/main" val="3492500164"/>
                  </a:ext>
                </a:extLst>
              </a:tr>
              <a:tr h="583160">
                <a:tc>
                  <a:txBody>
                    <a:bodyPr/>
                    <a:lstStyle/>
                    <a:p>
                      <a:r>
                        <a:rPr lang="en-US" b="1" dirty="0"/>
                        <a:t>   TC - 03</a:t>
                      </a:r>
                    </a:p>
                  </a:txBody>
                  <a:tcPr/>
                </a:tc>
                <a:tc>
                  <a:txBody>
                    <a:bodyPr/>
                    <a:lstStyle/>
                    <a:p>
                      <a:r>
                        <a:rPr lang="en-US" b="1" dirty="0"/>
                        <a:t>  I want to die</a:t>
                      </a:r>
                    </a:p>
                  </a:txBody>
                  <a:tcPr/>
                </a:tc>
                <a:tc>
                  <a:txBody>
                    <a:bodyPr/>
                    <a:lstStyle/>
                    <a:p>
                      <a:r>
                        <a:rPr lang="en-US" b="1" dirty="0"/>
                        <a:t> Crisis message</a:t>
                      </a:r>
                    </a:p>
                  </a:txBody>
                  <a:tcPr/>
                </a:tc>
                <a:tc>
                  <a:txBody>
                    <a:bodyPr/>
                    <a:lstStyle/>
                    <a:p>
                      <a:r>
                        <a:rPr lang="en-US" b="1" dirty="0"/>
                        <a:t> Pass</a:t>
                      </a:r>
                    </a:p>
                  </a:txBody>
                  <a:tcPr/>
                </a:tc>
                <a:extLst>
                  <a:ext uri="{0D108BD9-81ED-4DB2-BD59-A6C34878D82A}">
                    <a16:rowId xmlns:a16="http://schemas.microsoft.com/office/drawing/2014/main" val="503981988"/>
                  </a:ext>
                </a:extLst>
              </a:tr>
              <a:tr h="583160">
                <a:tc>
                  <a:txBody>
                    <a:bodyPr/>
                    <a:lstStyle/>
                    <a:p>
                      <a:r>
                        <a:rPr lang="en-US" b="1" dirty="0"/>
                        <a:t>   TC - 04</a:t>
                      </a:r>
                    </a:p>
                  </a:txBody>
                  <a:tcPr/>
                </a:tc>
                <a:tc>
                  <a:txBody>
                    <a:bodyPr/>
                    <a:lstStyle/>
                    <a:p>
                      <a:r>
                        <a:rPr lang="en-US" b="1" dirty="0"/>
                        <a:t>  PDF upload</a:t>
                      </a:r>
                    </a:p>
                  </a:txBody>
                  <a:tcPr/>
                </a:tc>
                <a:tc>
                  <a:txBody>
                    <a:bodyPr/>
                    <a:lstStyle/>
                    <a:p>
                      <a:r>
                        <a:rPr lang="en-US" b="1" dirty="0"/>
                        <a:t> No Crash</a:t>
                      </a:r>
                    </a:p>
                  </a:txBody>
                  <a:tcPr/>
                </a:tc>
                <a:tc>
                  <a:txBody>
                    <a:bodyPr/>
                    <a:lstStyle/>
                    <a:p>
                      <a:r>
                        <a:rPr lang="en-US" b="1" dirty="0"/>
                        <a:t> Pass</a:t>
                      </a:r>
                    </a:p>
                  </a:txBody>
                  <a:tcPr/>
                </a:tc>
                <a:extLst>
                  <a:ext uri="{0D108BD9-81ED-4DB2-BD59-A6C34878D82A}">
                    <a16:rowId xmlns:a16="http://schemas.microsoft.com/office/drawing/2014/main" val="497386417"/>
                  </a:ext>
                </a:extLst>
              </a:tr>
            </a:tbl>
          </a:graphicData>
        </a:graphic>
      </p:graphicFrame>
      <p:sp>
        <p:nvSpPr>
          <p:cNvPr id="7" name="TextBox 6">
            <a:extLst>
              <a:ext uri="{FF2B5EF4-FFF2-40B4-BE49-F238E27FC236}">
                <a16:creationId xmlns:a16="http://schemas.microsoft.com/office/drawing/2014/main" id="{5BDA2BEB-615F-41CA-4829-95C6C1D27DE7}"/>
              </a:ext>
            </a:extLst>
          </p:cNvPr>
          <p:cNvSpPr txBox="1"/>
          <p:nvPr/>
        </p:nvSpPr>
        <p:spPr>
          <a:xfrm>
            <a:off x="849047" y="1624550"/>
            <a:ext cx="10183760" cy="707886"/>
          </a:xfrm>
          <a:prstGeom prst="rect">
            <a:avLst/>
          </a:prstGeom>
          <a:noFill/>
        </p:spPr>
        <p:txBody>
          <a:bodyPr wrap="square">
            <a:spAutoFit/>
          </a:bodyPr>
          <a:lstStyle/>
          <a:p>
            <a:r>
              <a:rPr lang="en-US" sz="4000" b="1" dirty="0">
                <a:solidFill>
                  <a:srgbClr val="85C9B4"/>
                </a:solidFill>
              </a:rPr>
              <a:t>User Feedback on Prototype</a:t>
            </a:r>
          </a:p>
        </p:txBody>
      </p:sp>
      <p:sp>
        <p:nvSpPr>
          <p:cNvPr id="10" name="TextBox 9">
            <a:extLst>
              <a:ext uri="{FF2B5EF4-FFF2-40B4-BE49-F238E27FC236}">
                <a16:creationId xmlns:a16="http://schemas.microsoft.com/office/drawing/2014/main" id="{8CDF1B59-4821-19F4-D745-CACECA74C5C7}"/>
              </a:ext>
            </a:extLst>
          </p:cNvPr>
          <p:cNvSpPr txBox="1"/>
          <p:nvPr/>
        </p:nvSpPr>
        <p:spPr>
          <a:xfrm>
            <a:off x="849047" y="2476500"/>
            <a:ext cx="8830685" cy="2271391"/>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000" dirty="0"/>
              <a:t>Easy to use and understand. </a:t>
            </a:r>
          </a:p>
          <a:p>
            <a:pPr marL="457200" indent="-457200">
              <a:lnSpc>
                <a:spcPct val="120000"/>
              </a:lnSpc>
              <a:buFont typeface="Arial" panose="020B0604020202020204" pitchFamily="34" charset="0"/>
              <a:buChar char="•"/>
            </a:pPr>
            <a:r>
              <a:rPr lang="en-US" sz="3000" dirty="0"/>
              <a:t>Stress questions are relevant and clear. </a:t>
            </a:r>
          </a:p>
          <a:p>
            <a:pPr marL="457200" indent="-457200">
              <a:lnSpc>
                <a:spcPct val="120000"/>
              </a:lnSpc>
              <a:buFont typeface="Arial" panose="020B0604020202020204" pitchFamily="34" charset="0"/>
              <a:buChar char="•"/>
            </a:pPr>
            <a:r>
              <a:rPr lang="en-US" sz="3000" dirty="0"/>
              <a:t>Recommendations are practical for daily life. </a:t>
            </a:r>
          </a:p>
          <a:p>
            <a:pPr marL="457200" indent="-457200">
              <a:lnSpc>
                <a:spcPct val="120000"/>
              </a:lnSpc>
              <a:buFont typeface="Arial" panose="020B0604020202020204" pitchFamily="34" charset="0"/>
              <a:buChar char="•"/>
            </a:pPr>
            <a:r>
              <a:rPr lang="en-US" sz="3000" dirty="0"/>
              <a:t>They encourage early awareness and healthy habits</a:t>
            </a:r>
          </a:p>
        </p:txBody>
      </p:sp>
      <p:grpSp>
        <p:nvGrpSpPr>
          <p:cNvPr id="4" name="Group 3">
            <a:extLst>
              <a:ext uri="{FF2B5EF4-FFF2-40B4-BE49-F238E27FC236}">
                <a16:creationId xmlns:a16="http://schemas.microsoft.com/office/drawing/2014/main" id="{A5449E63-5C20-FC65-7BE4-6DE86BB989BA}"/>
              </a:ext>
            </a:extLst>
          </p:cNvPr>
          <p:cNvGrpSpPr/>
          <p:nvPr/>
        </p:nvGrpSpPr>
        <p:grpSpPr>
          <a:xfrm>
            <a:off x="15240" y="9480549"/>
            <a:ext cx="3666038" cy="811179"/>
            <a:chOff x="0" y="0"/>
            <a:chExt cx="1025531" cy="226918"/>
          </a:xfrm>
        </p:grpSpPr>
        <p:sp>
          <p:nvSpPr>
            <p:cNvPr id="5" name="Freeform 13">
              <a:extLst>
                <a:ext uri="{FF2B5EF4-FFF2-40B4-BE49-F238E27FC236}">
                  <a16:creationId xmlns:a16="http://schemas.microsoft.com/office/drawing/2014/main" id="{894C5226-33C4-0EA4-3558-F8D20845A900}"/>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4"/>
              <a:stretch>
                <a:fillRect l="-921" r="-921"/>
              </a:stretch>
            </a:blipFill>
          </p:spPr>
          <p:txBody>
            <a:bodyPr/>
            <a:lstStyle/>
            <a:p>
              <a:endParaRPr lang="en-US"/>
            </a:p>
          </p:txBody>
        </p:sp>
      </p:grpSp>
      <p:sp>
        <p:nvSpPr>
          <p:cNvPr id="8" name="TextBox 7">
            <a:extLst>
              <a:ext uri="{FF2B5EF4-FFF2-40B4-BE49-F238E27FC236}">
                <a16:creationId xmlns:a16="http://schemas.microsoft.com/office/drawing/2014/main" id="{1180E3B0-E7C9-A091-685A-D3ADEDCC2D3F}"/>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extLst>
      <p:ext uri="{BB962C8B-B14F-4D97-AF65-F5344CB8AC3E}">
        <p14:creationId xmlns:p14="http://schemas.microsoft.com/office/powerpoint/2010/main" val="183640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D353-898A-7B84-92A6-704E5291D7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25F2C-1C42-F59E-0BF8-8F9F09880454}"/>
              </a:ext>
            </a:extLst>
          </p:cNvPr>
          <p:cNvSpPr/>
          <p:nvPr/>
        </p:nvSpPr>
        <p:spPr>
          <a:xfrm rot="-4817078" flipH="1">
            <a:off x="7584624" y="-5318198"/>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a:extLst>
              <a:ext uri="{FF2B5EF4-FFF2-40B4-BE49-F238E27FC236}">
                <a16:creationId xmlns:a16="http://schemas.microsoft.com/office/drawing/2014/main" id="{EF2C3589-869E-45B4-C481-5AD42545D14D}"/>
              </a:ext>
            </a:extLst>
          </p:cNvPr>
          <p:cNvGrpSpPr/>
          <p:nvPr/>
        </p:nvGrpSpPr>
        <p:grpSpPr>
          <a:xfrm>
            <a:off x="574633" y="6403573"/>
            <a:ext cx="300229" cy="300229"/>
            <a:chOff x="0" y="0"/>
            <a:chExt cx="812800" cy="812800"/>
          </a:xfrm>
        </p:grpSpPr>
        <p:sp>
          <p:nvSpPr>
            <p:cNvPr id="11" name="Freeform 11">
              <a:extLst>
                <a:ext uri="{FF2B5EF4-FFF2-40B4-BE49-F238E27FC236}">
                  <a16:creationId xmlns:a16="http://schemas.microsoft.com/office/drawing/2014/main" id="{94B3E04B-7415-31B4-7259-F04814162E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p:spPr>
          <p:txBody>
            <a:bodyPr/>
            <a:lstStyle/>
            <a:p>
              <a:endParaRPr lang="en-US"/>
            </a:p>
          </p:txBody>
        </p:sp>
        <p:sp>
          <p:nvSpPr>
            <p:cNvPr id="12" name="TextBox 12">
              <a:extLst>
                <a:ext uri="{FF2B5EF4-FFF2-40B4-BE49-F238E27FC236}">
                  <a16:creationId xmlns:a16="http://schemas.microsoft.com/office/drawing/2014/main" id="{7C83FAB6-C918-6C4A-29AD-7B979627E07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6" name="Freeform 16">
            <a:extLst>
              <a:ext uri="{FF2B5EF4-FFF2-40B4-BE49-F238E27FC236}">
                <a16:creationId xmlns:a16="http://schemas.microsoft.com/office/drawing/2014/main" id="{7367B625-B626-2729-682C-4D0256FC9389}"/>
              </a:ext>
            </a:extLst>
          </p:cNvPr>
          <p:cNvSpPr/>
          <p:nvPr/>
        </p:nvSpPr>
        <p:spPr>
          <a:xfrm rot="-823344">
            <a:off x="16660060" y="8513734"/>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a:extLst>
              <a:ext uri="{FF2B5EF4-FFF2-40B4-BE49-F238E27FC236}">
                <a16:creationId xmlns:a16="http://schemas.microsoft.com/office/drawing/2014/main" id="{73F597A8-0447-2F2F-0556-2253ED036D0D}"/>
              </a:ext>
            </a:extLst>
          </p:cNvPr>
          <p:cNvSpPr/>
          <p:nvPr/>
        </p:nvSpPr>
        <p:spPr>
          <a:xfrm rot="-823344">
            <a:off x="16466159" y="8833670"/>
            <a:ext cx="920651" cy="920651"/>
          </a:xfrm>
          <a:custGeom>
            <a:avLst/>
            <a:gdLst/>
            <a:ahLst/>
            <a:cxnLst/>
            <a:rect l="l" t="t" r="r" b="b"/>
            <a:pathLst>
              <a:path w="920651" h="920651">
                <a:moveTo>
                  <a:pt x="0" y="0"/>
                </a:moveTo>
                <a:lnTo>
                  <a:pt x="920650" y="0"/>
                </a:lnTo>
                <a:lnTo>
                  <a:pt x="920650" y="920650"/>
                </a:lnTo>
                <a:lnTo>
                  <a:pt x="0" y="9206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E00E07E4-078E-D5BA-064B-BCEA8E8F0B9B}"/>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9F5B0912-3316-5D7D-ECDF-C720BDDDF1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394A7BC4-1320-BF2D-0C73-2FB4850B69F1}"/>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9" name="TextBox 18">
            <a:extLst>
              <a:ext uri="{FF2B5EF4-FFF2-40B4-BE49-F238E27FC236}">
                <a16:creationId xmlns:a16="http://schemas.microsoft.com/office/drawing/2014/main" id="{4921DD68-2983-1F1E-91D4-3E714A6E2734}"/>
              </a:ext>
            </a:extLst>
          </p:cNvPr>
          <p:cNvSpPr txBox="1"/>
          <p:nvPr/>
        </p:nvSpPr>
        <p:spPr>
          <a:xfrm>
            <a:off x="1793139" y="351226"/>
            <a:ext cx="1532724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alibri"/>
                <a:ea typeface="+mn-ea"/>
                <a:cs typeface="+mn-cs"/>
              </a:rPr>
              <a:t>A Domain-Specific AI Health Coach for Stress and Hypertension </a:t>
            </a:r>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FCA73462-FA60-1BAA-D6B0-7E4474A6C870}"/>
              </a:ext>
            </a:extLst>
          </p:cNvPr>
          <p:cNvSpPr txBox="1"/>
          <p:nvPr/>
        </p:nvSpPr>
        <p:spPr>
          <a:xfrm>
            <a:off x="1793139" y="1057375"/>
            <a:ext cx="14544967" cy="553998"/>
          </a:xfrm>
          <a:prstGeom prst="rect">
            <a:avLst/>
          </a:prstGeom>
          <a:noFill/>
        </p:spPr>
        <p:txBody>
          <a:bodyPr wrap="square">
            <a:spAutoFit/>
          </a:bodyPr>
          <a:lstStyle/>
          <a:p>
            <a:r>
              <a:rPr lang="en-US" sz="3000" b="1" dirty="0">
                <a:solidFill>
                  <a:srgbClr val="85C9B4"/>
                </a:solidFill>
              </a:rPr>
              <a:t>System Overview – Domain-Specific AI Health Coach for Stress and Hypertension</a:t>
            </a:r>
          </a:p>
        </p:txBody>
      </p:sp>
      <p:pic>
        <p:nvPicPr>
          <p:cNvPr id="7" name="Picture 6" descr="A diagram of a medical procedure&#10;&#10;AI-generated content may be incorrect.">
            <a:extLst>
              <a:ext uri="{FF2B5EF4-FFF2-40B4-BE49-F238E27FC236}">
                <a16:creationId xmlns:a16="http://schemas.microsoft.com/office/drawing/2014/main" id="{FA2E4B7C-5104-2284-2089-F4C0EA576D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43200" y="1750634"/>
            <a:ext cx="10412312" cy="7904789"/>
          </a:xfrm>
          <a:prstGeom prst="rect">
            <a:avLst/>
          </a:prstGeom>
        </p:spPr>
      </p:pic>
      <p:grpSp>
        <p:nvGrpSpPr>
          <p:cNvPr id="9" name="Group 8">
            <a:extLst>
              <a:ext uri="{FF2B5EF4-FFF2-40B4-BE49-F238E27FC236}">
                <a16:creationId xmlns:a16="http://schemas.microsoft.com/office/drawing/2014/main" id="{E2FA38C0-172C-87D7-A560-86ADFD236064}"/>
              </a:ext>
            </a:extLst>
          </p:cNvPr>
          <p:cNvGrpSpPr/>
          <p:nvPr/>
        </p:nvGrpSpPr>
        <p:grpSpPr>
          <a:xfrm>
            <a:off x="15240" y="9480549"/>
            <a:ext cx="3666038" cy="811179"/>
            <a:chOff x="0" y="0"/>
            <a:chExt cx="1025531" cy="226918"/>
          </a:xfrm>
        </p:grpSpPr>
        <p:sp>
          <p:nvSpPr>
            <p:cNvPr id="13" name="Freeform 13">
              <a:extLst>
                <a:ext uri="{FF2B5EF4-FFF2-40B4-BE49-F238E27FC236}">
                  <a16:creationId xmlns:a16="http://schemas.microsoft.com/office/drawing/2014/main" id="{D994A3B5-5040-C3A5-7432-E3D6160CFBAB}"/>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9"/>
              <a:stretch>
                <a:fillRect l="-921" r="-921"/>
              </a:stretch>
            </a:blipFill>
          </p:spPr>
          <p:txBody>
            <a:bodyPr/>
            <a:lstStyle/>
            <a:p>
              <a:endParaRPr lang="en-US"/>
            </a:p>
          </p:txBody>
        </p:sp>
      </p:grpSp>
      <p:sp>
        <p:nvSpPr>
          <p:cNvPr id="14" name="TextBox 13">
            <a:extLst>
              <a:ext uri="{FF2B5EF4-FFF2-40B4-BE49-F238E27FC236}">
                <a16:creationId xmlns:a16="http://schemas.microsoft.com/office/drawing/2014/main" id="{DD7C22C8-13E5-A8EB-7918-ED683DED2FA7}"/>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extLst>
      <p:ext uri="{BB962C8B-B14F-4D97-AF65-F5344CB8AC3E}">
        <p14:creationId xmlns:p14="http://schemas.microsoft.com/office/powerpoint/2010/main" val="1276222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781D2-A5F0-BD25-2C64-0DE183D63F74}"/>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D7978F14-1A70-7873-4796-491A5692BBE4}"/>
              </a:ext>
            </a:extLst>
          </p:cNvPr>
          <p:cNvSpPr/>
          <p:nvPr/>
        </p:nvSpPr>
        <p:spPr>
          <a:xfrm rot="-823344">
            <a:off x="910693" y="8794041"/>
            <a:ext cx="920651" cy="920651"/>
          </a:xfrm>
          <a:custGeom>
            <a:avLst/>
            <a:gdLst/>
            <a:ahLst/>
            <a:cxnLst/>
            <a:rect l="l" t="t" r="r" b="b"/>
            <a:pathLst>
              <a:path w="920651" h="920651">
                <a:moveTo>
                  <a:pt x="0" y="0"/>
                </a:moveTo>
                <a:lnTo>
                  <a:pt x="920650" y="0"/>
                </a:lnTo>
                <a:lnTo>
                  <a:pt x="920650" y="920651"/>
                </a:lnTo>
                <a:lnTo>
                  <a:pt x="0" y="9206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a:extLst>
              <a:ext uri="{FF2B5EF4-FFF2-40B4-BE49-F238E27FC236}">
                <a16:creationId xmlns:a16="http://schemas.microsoft.com/office/drawing/2014/main" id="{4E13BE4C-72F4-2BFF-559D-F7C41FE3D5C1}"/>
              </a:ext>
            </a:extLst>
          </p:cNvPr>
          <p:cNvGrpSpPr/>
          <p:nvPr/>
        </p:nvGrpSpPr>
        <p:grpSpPr>
          <a:xfrm>
            <a:off x="2036025" y="872188"/>
            <a:ext cx="39377" cy="39377"/>
            <a:chOff x="0" y="0"/>
            <a:chExt cx="812800" cy="812800"/>
          </a:xfrm>
        </p:grpSpPr>
        <p:sp>
          <p:nvSpPr>
            <p:cNvPr id="21" name="Freeform 21">
              <a:extLst>
                <a:ext uri="{FF2B5EF4-FFF2-40B4-BE49-F238E27FC236}">
                  <a16:creationId xmlns:a16="http://schemas.microsoft.com/office/drawing/2014/main" id="{A4A07A3B-BCB5-CA3D-5FCD-F0C69988FB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2" name="TextBox 22">
              <a:extLst>
                <a:ext uri="{FF2B5EF4-FFF2-40B4-BE49-F238E27FC236}">
                  <a16:creationId xmlns:a16="http://schemas.microsoft.com/office/drawing/2014/main" id="{F4DCBBD2-F1D4-E584-DA8B-5DD4B5B83F4E}"/>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24" name="TextBox 24">
            <a:extLst>
              <a:ext uri="{FF2B5EF4-FFF2-40B4-BE49-F238E27FC236}">
                <a16:creationId xmlns:a16="http://schemas.microsoft.com/office/drawing/2014/main" id="{35BD4E45-F8D8-8648-F3AD-1B1419F707A4}"/>
              </a:ext>
            </a:extLst>
          </p:cNvPr>
          <p:cNvSpPr txBox="1"/>
          <p:nvPr/>
        </p:nvSpPr>
        <p:spPr>
          <a:xfrm>
            <a:off x="957908" y="1051938"/>
            <a:ext cx="3938557" cy="664284"/>
          </a:xfrm>
          <a:prstGeom prst="rect">
            <a:avLst/>
          </a:prstGeom>
        </p:spPr>
        <p:txBody>
          <a:bodyPr wrap="square" lIns="0" tIns="0" rIns="0" bIns="0" rtlCol="0" anchor="t">
            <a:spAutoFit/>
          </a:bodyPr>
          <a:lstStyle/>
          <a:p>
            <a:pPr algn="l">
              <a:lnSpc>
                <a:spcPts val="5567"/>
              </a:lnSpc>
            </a:pPr>
            <a:r>
              <a:rPr lang="en-US" sz="3000" b="1" spc="-67" dirty="0">
                <a:solidFill>
                  <a:srgbClr val="85C9B4"/>
                </a:solidFill>
                <a:latin typeface="Poppins Semi-Bold"/>
                <a:ea typeface="Poppins Semi-Bold"/>
                <a:cs typeface="Poppins Semi-Bold"/>
                <a:sym typeface="Poppins Semi-Bold"/>
              </a:rPr>
              <a:t>Testing Summary</a:t>
            </a:r>
          </a:p>
        </p:txBody>
      </p:sp>
      <p:sp>
        <p:nvSpPr>
          <p:cNvPr id="2" name="TextBox 1">
            <a:extLst>
              <a:ext uri="{FF2B5EF4-FFF2-40B4-BE49-F238E27FC236}">
                <a16:creationId xmlns:a16="http://schemas.microsoft.com/office/drawing/2014/main" id="{2B283A24-DFF1-119C-0284-F59D1385D6F5}"/>
              </a:ext>
            </a:extLst>
          </p:cNvPr>
          <p:cNvSpPr txBox="1"/>
          <p:nvPr/>
        </p:nvSpPr>
        <p:spPr>
          <a:xfrm>
            <a:off x="878441" y="286075"/>
            <a:ext cx="15327246"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black"/>
                </a:solidFill>
                <a:effectLst/>
                <a:uLnTx/>
                <a:uFillTx/>
                <a:latin typeface="Calibri"/>
                <a:ea typeface="+mn-ea"/>
                <a:cs typeface="+mn-cs"/>
              </a:rPr>
              <a:t>A Domain-Specific AI Health Coach for Stress and Hypertension </a:t>
            </a:r>
            <a:endParaRPr kumimoji="0" lang="en-US" sz="45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6" name="Picture 15">
            <a:extLst>
              <a:ext uri="{FF2B5EF4-FFF2-40B4-BE49-F238E27FC236}">
                <a16:creationId xmlns:a16="http://schemas.microsoft.com/office/drawing/2014/main" id="{6CD90A05-3901-CEBC-61D8-9D60FBC808B7}"/>
              </a:ext>
            </a:extLst>
          </p:cNvPr>
          <p:cNvPicPr>
            <a:picLocks noChangeAspect="1"/>
          </p:cNvPicPr>
          <p:nvPr/>
        </p:nvPicPr>
        <p:blipFill>
          <a:blip r:embed="rId4"/>
          <a:stretch>
            <a:fillRect/>
          </a:stretch>
        </p:blipFill>
        <p:spPr>
          <a:xfrm>
            <a:off x="957908" y="2108779"/>
            <a:ext cx="5269954" cy="2553449"/>
          </a:xfrm>
          <a:prstGeom prst="rect">
            <a:avLst/>
          </a:prstGeom>
        </p:spPr>
      </p:pic>
      <p:pic>
        <p:nvPicPr>
          <p:cNvPr id="18" name="Picture 17">
            <a:extLst>
              <a:ext uri="{FF2B5EF4-FFF2-40B4-BE49-F238E27FC236}">
                <a16:creationId xmlns:a16="http://schemas.microsoft.com/office/drawing/2014/main" id="{3194F774-E25C-EEE1-5215-E85C417392BD}"/>
              </a:ext>
            </a:extLst>
          </p:cNvPr>
          <p:cNvPicPr>
            <a:picLocks noChangeAspect="1"/>
          </p:cNvPicPr>
          <p:nvPr/>
        </p:nvPicPr>
        <p:blipFill>
          <a:blip r:embed="rId5"/>
          <a:stretch>
            <a:fillRect/>
          </a:stretch>
        </p:blipFill>
        <p:spPr>
          <a:xfrm>
            <a:off x="6866404" y="2120139"/>
            <a:ext cx="4953000" cy="2553449"/>
          </a:xfrm>
          <a:prstGeom prst="rect">
            <a:avLst/>
          </a:prstGeom>
        </p:spPr>
      </p:pic>
      <p:pic>
        <p:nvPicPr>
          <p:cNvPr id="23" name="Picture 22">
            <a:extLst>
              <a:ext uri="{FF2B5EF4-FFF2-40B4-BE49-F238E27FC236}">
                <a16:creationId xmlns:a16="http://schemas.microsoft.com/office/drawing/2014/main" id="{BB036C27-2002-978E-6F36-FE6AAE4D683D}"/>
              </a:ext>
            </a:extLst>
          </p:cNvPr>
          <p:cNvPicPr>
            <a:picLocks noChangeAspect="1"/>
          </p:cNvPicPr>
          <p:nvPr/>
        </p:nvPicPr>
        <p:blipFill>
          <a:blip r:embed="rId6"/>
          <a:stretch>
            <a:fillRect/>
          </a:stretch>
        </p:blipFill>
        <p:spPr>
          <a:xfrm>
            <a:off x="957908" y="5490939"/>
            <a:ext cx="5285147" cy="2398695"/>
          </a:xfrm>
          <a:prstGeom prst="rect">
            <a:avLst/>
          </a:prstGeom>
        </p:spPr>
      </p:pic>
      <p:pic>
        <p:nvPicPr>
          <p:cNvPr id="4" name="Picture 3">
            <a:extLst>
              <a:ext uri="{FF2B5EF4-FFF2-40B4-BE49-F238E27FC236}">
                <a16:creationId xmlns:a16="http://schemas.microsoft.com/office/drawing/2014/main" id="{40FBCCB0-6B01-0443-23EB-178BCD123148}"/>
              </a:ext>
            </a:extLst>
          </p:cNvPr>
          <p:cNvPicPr>
            <a:picLocks noChangeAspect="1"/>
          </p:cNvPicPr>
          <p:nvPr/>
        </p:nvPicPr>
        <p:blipFill>
          <a:blip r:embed="rId7"/>
          <a:stretch>
            <a:fillRect/>
          </a:stretch>
        </p:blipFill>
        <p:spPr>
          <a:xfrm>
            <a:off x="12308488" y="2150865"/>
            <a:ext cx="5097542" cy="2425121"/>
          </a:xfrm>
          <a:prstGeom prst="rect">
            <a:avLst/>
          </a:prstGeom>
        </p:spPr>
      </p:pic>
      <p:pic>
        <p:nvPicPr>
          <p:cNvPr id="8" name="Picture 7">
            <a:extLst>
              <a:ext uri="{FF2B5EF4-FFF2-40B4-BE49-F238E27FC236}">
                <a16:creationId xmlns:a16="http://schemas.microsoft.com/office/drawing/2014/main" id="{A4DF3951-B8D9-10EC-35B1-B0DBB815CBDC}"/>
              </a:ext>
            </a:extLst>
          </p:cNvPr>
          <p:cNvPicPr>
            <a:picLocks noChangeAspect="1"/>
          </p:cNvPicPr>
          <p:nvPr/>
        </p:nvPicPr>
        <p:blipFill>
          <a:blip r:embed="rId8"/>
          <a:stretch>
            <a:fillRect/>
          </a:stretch>
        </p:blipFill>
        <p:spPr>
          <a:xfrm>
            <a:off x="6866404" y="5379401"/>
            <a:ext cx="4952999" cy="2711146"/>
          </a:xfrm>
          <a:prstGeom prst="rect">
            <a:avLst/>
          </a:prstGeom>
        </p:spPr>
      </p:pic>
      <p:pic>
        <p:nvPicPr>
          <p:cNvPr id="14" name="Picture 13">
            <a:extLst>
              <a:ext uri="{FF2B5EF4-FFF2-40B4-BE49-F238E27FC236}">
                <a16:creationId xmlns:a16="http://schemas.microsoft.com/office/drawing/2014/main" id="{6901BD1E-26A1-8F11-5585-AFFD0656C692}"/>
              </a:ext>
            </a:extLst>
          </p:cNvPr>
          <p:cNvPicPr>
            <a:picLocks noChangeAspect="1"/>
          </p:cNvPicPr>
          <p:nvPr/>
        </p:nvPicPr>
        <p:blipFill>
          <a:blip r:embed="rId9"/>
          <a:stretch>
            <a:fillRect/>
          </a:stretch>
        </p:blipFill>
        <p:spPr>
          <a:xfrm>
            <a:off x="12347385" y="5264186"/>
            <a:ext cx="4953000" cy="2862063"/>
          </a:xfrm>
          <a:prstGeom prst="rect">
            <a:avLst/>
          </a:prstGeom>
        </p:spPr>
      </p:pic>
      <p:grpSp>
        <p:nvGrpSpPr>
          <p:cNvPr id="5" name="Group 4">
            <a:extLst>
              <a:ext uri="{FF2B5EF4-FFF2-40B4-BE49-F238E27FC236}">
                <a16:creationId xmlns:a16="http://schemas.microsoft.com/office/drawing/2014/main" id="{2F830445-AA4B-814A-28F8-00B3543D4DFC}"/>
              </a:ext>
            </a:extLst>
          </p:cNvPr>
          <p:cNvGrpSpPr/>
          <p:nvPr/>
        </p:nvGrpSpPr>
        <p:grpSpPr>
          <a:xfrm>
            <a:off x="15240" y="9480549"/>
            <a:ext cx="3666038" cy="811179"/>
            <a:chOff x="0" y="0"/>
            <a:chExt cx="1025531" cy="226918"/>
          </a:xfrm>
        </p:grpSpPr>
        <p:sp>
          <p:nvSpPr>
            <p:cNvPr id="6" name="Freeform 13">
              <a:extLst>
                <a:ext uri="{FF2B5EF4-FFF2-40B4-BE49-F238E27FC236}">
                  <a16:creationId xmlns:a16="http://schemas.microsoft.com/office/drawing/2014/main" id="{14F274FE-7BD6-ED42-9FA5-6E615A6EFA1B}"/>
                </a:ext>
              </a:extLst>
            </p:cNvPr>
            <p:cNvSpPr/>
            <p:nvPr/>
          </p:nvSpPr>
          <p:spPr>
            <a:xfrm>
              <a:off x="0" y="0"/>
              <a:ext cx="1025531" cy="226918"/>
            </a:xfrm>
            <a:custGeom>
              <a:avLst/>
              <a:gdLst/>
              <a:ahLst/>
              <a:cxnLst/>
              <a:rect l="l" t="t" r="r" b="b"/>
              <a:pathLst>
                <a:path w="1025531" h="226918">
                  <a:moveTo>
                    <a:pt x="0" y="0"/>
                  </a:moveTo>
                  <a:lnTo>
                    <a:pt x="1025531" y="0"/>
                  </a:lnTo>
                  <a:lnTo>
                    <a:pt x="1025531" y="226918"/>
                  </a:lnTo>
                  <a:lnTo>
                    <a:pt x="0" y="226918"/>
                  </a:lnTo>
                  <a:close/>
                </a:path>
              </a:pathLst>
            </a:custGeom>
            <a:blipFill>
              <a:blip r:embed="rId10"/>
              <a:stretch>
                <a:fillRect l="-921" r="-921"/>
              </a:stretch>
            </a:blipFill>
          </p:spPr>
          <p:txBody>
            <a:bodyPr/>
            <a:lstStyle/>
            <a:p>
              <a:endParaRPr lang="en-US"/>
            </a:p>
          </p:txBody>
        </p:sp>
      </p:grpSp>
      <p:sp>
        <p:nvSpPr>
          <p:cNvPr id="7" name="TextBox 6">
            <a:extLst>
              <a:ext uri="{FF2B5EF4-FFF2-40B4-BE49-F238E27FC236}">
                <a16:creationId xmlns:a16="http://schemas.microsoft.com/office/drawing/2014/main" id="{AF614F1E-FBDA-D14F-4BA0-A8B7DE2569EE}"/>
              </a:ext>
            </a:extLst>
          </p:cNvPr>
          <p:cNvSpPr txBox="1"/>
          <p:nvPr/>
        </p:nvSpPr>
        <p:spPr>
          <a:xfrm>
            <a:off x="2655285" y="9766975"/>
            <a:ext cx="10247810" cy="461665"/>
          </a:xfrm>
          <a:prstGeom prst="rect">
            <a:avLst/>
          </a:prstGeom>
          <a:noFill/>
        </p:spPr>
        <p:txBody>
          <a:bodyPr wrap="square">
            <a:spAutoFit/>
          </a:bodyPr>
          <a:lstStyle/>
          <a:p>
            <a:pPr algn="ctr"/>
            <a:r>
              <a:rPr lang="en-US" sz="2400" dirty="0">
                <a:cs typeface="Poppins Light" panose="00000400000000000000" pitchFamily="2" charset="0"/>
              </a:rPr>
              <a:t>IT22623690</a:t>
            </a:r>
            <a:r>
              <a:rPr lang="en-US" sz="2400" i="0" dirty="0">
                <a:solidFill>
                  <a:srgbClr val="000000"/>
                </a:solidFill>
                <a:effectLst/>
              </a:rPr>
              <a:t> | </a:t>
            </a:r>
            <a:r>
              <a:rPr lang="en-US" sz="2400" dirty="0" err="1">
                <a:cs typeface="Poppins Light" panose="00000400000000000000" pitchFamily="2" charset="0"/>
              </a:rPr>
              <a:t>Jayawardhana</a:t>
            </a:r>
            <a:r>
              <a:rPr lang="en-US" sz="2400" dirty="0">
                <a:cs typeface="Poppins Light" panose="00000400000000000000" pitchFamily="2" charset="0"/>
              </a:rPr>
              <a:t> N.S.G</a:t>
            </a:r>
            <a:r>
              <a:rPr lang="en-US" sz="2400" b="1" dirty="0">
                <a:latin typeface="Poppins Light" panose="00000400000000000000" pitchFamily="2" charset="0"/>
                <a:cs typeface="Poppins Light" panose="00000400000000000000" pitchFamily="2" charset="0"/>
              </a:rPr>
              <a:t> </a:t>
            </a:r>
            <a:r>
              <a:rPr lang="en-US" sz="2400" i="0" dirty="0">
                <a:solidFill>
                  <a:srgbClr val="000000"/>
                </a:solidFill>
                <a:effectLst/>
              </a:rPr>
              <a:t>| 25-26J-371</a:t>
            </a:r>
            <a:endParaRPr lang="en-US" sz="2400" dirty="0">
              <a:effectLst/>
            </a:endParaRPr>
          </a:p>
        </p:txBody>
      </p:sp>
    </p:spTree>
    <p:extLst>
      <p:ext uri="{BB962C8B-B14F-4D97-AF65-F5344CB8AC3E}">
        <p14:creationId xmlns:p14="http://schemas.microsoft.com/office/powerpoint/2010/main" val="3070318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750E-8E7F-5BE7-9968-C1F4AED003C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58302B-937A-478E-5BE2-DC835E9711D0}"/>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4287" t="-28290" b="-7076"/>
            </a:stretch>
          </a:blipFill>
        </p:spPr>
        <p:txBody>
          <a:bodyPr/>
          <a:lstStyle/>
          <a:p>
            <a:endParaRPr lang="en-US"/>
          </a:p>
        </p:txBody>
      </p:sp>
      <p:grpSp>
        <p:nvGrpSpPr>
          <p:cNvPr id="3" name="Group 3">
            <a:extLst>
              <a:ext uri="{FF2B5EF4-FFF2-40B4-BE49-F238E27FC236}">
                <a16:creationId xmlns:a16="http://schemas.microsoft.com/office/drawing/2014/main" id="{6BDD26C7-5BCB-1232-FB3C-A3CB7C2C0A17}"/>
              </a:ext>
            </a:extLst>
          </p:cNvPr>
          <p:cNvGrpSpPr/>
          <p:nvPr/>
        </p:nvGrpSpPr>
        <p:grpSpPr>
          <a:xfrm>
            <a:off x="9195" y="-18435"/>
            <a:ext cx="18288000" cy="10285445"/>
            <a:chOff x="0" y="0"/>
            <a:chExt cx="4344790" cy="2709333"/>
          </a:xfrm>
        </p:grpSpPr>
        <p:sp>
          <p:nvSpPr>
            <p:cNvPr id="4" name="Freeform 4">
              <a:extLst>
                <a:ext uri="{FF2B5EF4-FFF2-40B4-BE49-F238E27FC236}">
                  <a16:creationId xmlns:a16="http://schemas.microsoft.com/office/drawing/2014/main" id="{DD0966CB-4540-934D-FE82-7C2A437EB5B9}"/>
                </a:ext>
              </a:extLst>
            </p:cNvPr>
            <p:cNvSpPr/>
            <p:nvPr/>
          </p:nvSpPr>
          <p:spPr>
            <a:xfrm>
              <a:off x="0" y="0"/>
              <a:ext cx="4344791" cy="2709333"/>
            </a:xfrm>
            <a:custGeom>
              <a:avLst/>
              <a:gdLst/>
              <a:ahLst/>
              <a:cxnLst/>
              <a:rect l="l" t="t" r="r" b="b"/>
              <a:pathLst>
                <a:path w="4344791" h="2709333">
                  <a:moveTo>
                    <a:pt x="0" y="0"/>
                  </a:moveTo>
                  <a:lnTo>
                    <a:pt x="4344791" y="0"/>
                  </a:lnTo>
                  <a:lnTo>
                    <a:pt x="4344791" y="2709333"/>
                  </a:lnTo>
                  <a:lnTo>
                    <a:pt x="0" y="2709333"/>
                  </a:lnTo>
                  <a:close/>
                </a:path>
              </a:pathLst>
            </a:custGeom>
            <a:gradFill rotWithShape="1">
              <a:gsLst>
                <a:gs pos="0">
                  <a:srgbClr val="FFFFFF">
                    <a:alpha val="100000"/>
                  </a:srgbClr>
                </a:gs>
                <a:gs pos="33333">
                  <a:srgbClr val="FFFFFF">
                    <a:alpha val="100000"/>
                  </a:srgbClr>
                </a:gs>
                <a:gs pos="66667">
                  <a:srgbClr val="FFFFFF">
                    <a:alpha val="100000"/>
                  </a:srgbClr>
                </a:gs>
                <a:gs pos="100000">
                  <a:srgbClr val="FFFFFF">
                    <a:alpha val="0"/>
                  </a:srgbClr>
                </a:gs>
              </a:gsLst>
              <a:lin ang="0"/>
            </a:gradFill>
          </p:spPr>
          <p:txBody>
            <a:bodyPr/>
            <a:lstStyle/>
            <a:p>
              <a:endParaRPr lang="en-US" dirty="0"/>
            </a:p>
          </p:txBody>
        </p:sp>
        <p:sp>
          <p:nvSpPr>
            <p:cNvPr id="5" name="TextBox 5">
              <a:extLst>
                <a:ext uri="{FF2B5EF4-FFF2-40B4-BE49-F238E27FC236}">
                  <a16:creationId xmlns:a16="http://schemas.microsoft.com/office/drawing/2014/main" id="{A2CBB28A-3CEE-CC9B-F5E8-6B2585008BD9}"/>
                </a:ext>
              </a:extLst>
            </p:cNvPr>
            <p:cNvSpPr txBox="1"/>
            <p:nvPr/>
          </p:nvSpPr>
          <p:spPr>
            <a:xfrm>
              <a:off x="0" y="-38100"/>
              <a:ext cx="4344790" cy="2747433"/>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D8858F97-8E0E-AF94-DD26-A8A4D50D6A28}"/>
              </a:ext>
            </a:extLst>
          </p:cNvPr>
          <p:cNvSpPr/>
          <p:nvPr/>
        </p:nvSpPr>
        <p:spPr>
          <a:xfrm rot="-5931620" flipH="1">
            <a:off x="12268256" y="-4522740"/>
            <a:ext cx="5404519" cy="10214726"/>
          </a:xfrm>
          <a:custGeom>
            <a:avLst/>
            <a:gdLst/>
            <a:ahLst/>
            <a:cxnLst/>
            <a:rect l="l" t="t" r="r" b="b"/>
            <a:pathLst>
              <a:path w="5404519" h="10214726">
                <a:moveTo>
                  <a:pt x="5404519" y="0"/>
                </a:moveTo>
                <a:lnTo>
                  <a:pt x="0" y="0"/>
                </a:lnTo>
                <a:lnTo>
                  <a:pt x="0" y="10214726"/>
                </a:lnTo>
                <a:lnTo>
                  <a:pt x="5404519" y="10214726"/>
                </a:lnTo>
                <a:lnTo>
                  <a:pt x="5404519"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dirty="0"/>
          </a:p>
        </p:txBody>
      </p:sp>
      <p:grpSp>
        <p:nvGrpSpPr>
          <p:cNvPr id="18" name="Group 18">
            <a:extLst>
              <a:ext uri="{FF2B5EF4-FFF2-40B4-BE49-F238E27FC236}">
                <a16:creationId xmlns:a16="http://schemas.microsoft.com/office/drawing/2014/main" id="{DD9F9099-9EE5-C36B-6362-ACDBC939CB89}"/>
              </a:ext>
            </a:extLst>
          </p:cNvPr>
          <p:cNvGrpSpPr/>
          <p:nvPr/>
        </p:nvGrpSpPr>
        <p:grpSpPr>
          <a:xfrm>
            <a:off x="2036025" y="872188"/>
            <a:ext cx="39377" cy="39377"/>
            <a:chOff x="0" y="0"/>
            <a:chExt cx="812800" cy="812800"/>
          </a:xfrm>
        </p:grpSpPr>
        <p:sp>
          <p:nvSpPr>
            <p:cNvPr id="19" name="Freeform 19">
              <a:extLst>
                <a:ext uri="{FF2B5EF4-FFF2-40B4-BE49-F238E27FC236}">
                  <a16:creationId xmlns:a16="http://schemas.microsoft.com/office/drawing/2014/main" id="{D1413CC7-AB55-1FB2-439D-16B6CD581F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p:spPr>
          <p:txBody>
            <a:bodyPr/>
            <a:lstStyle/>
            <a:p>
              <a:endParaRPr lang="en-US"/>
            </a:p>
          </p:txBody>
        </p:sp>
        <p:sp>
          <p:nvSpPr>
            <p:cNvPr id="20" name="TextBox 20">
              <a:extLst>
                <a:ext uri="{FF2B5EF4-FFF2-40B4-BE49-F238E27FC236}">
                  <a16:creationId xmlns:a16="http://schemas.microsoft.com/office/drawing/2014/main" id="{C68EB78C-EE15-A068-16FB-011F58989A83}"/>
                </a:ext>
              </a:extLst>
            </p:cNvPr>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8" name="TextBox 7">
            <a:extLst>
              <a:ext uri="{FF2B5EF4-FFF2-40B4-BE49-F238E27FC236}">
                <a16:creationId xmlns:a16="http://schemas.microsoft.com/office/drawing/2014/main" id="{4DD97D16-366F-4916-FAEC-B79A207A73CD}"/>
              </a:ext>
            </a:extLst>
          </p:cNvPr>
          <p:cNvSpPr txBox="1"/>
          <p:nvPr/>
        </p:nvSpPr>
        <p:spPr>
          <a:xfrm>
            <a:off x="685800" y="1397464"/>
            <a:ext cx="6178416" cy="553998"/>
          </a:xfrm>
          <a:prstGeom prst="rect">
            <a:avLst/>
          </a:prstGeom>
          <a:noFill/>
        </p:spPr>
        <p:txBody>
          <a:bodyPr wrap="square">
            <a:spAutoFit/>
          </a:bodyPr>
          <a:lstStyle/>
          <a:p>
            <a:r>
              <a:rPr lang="en-US" sz="3000" b="1" dirty="0">
                <a:solidFill>
                  <a:srgbClr val="0070C0"/>
                </a:solidFill>
                <a:latin typeface="Poppins Medium" panose="00000600000000000000" pitchFamily="2" charset="0"/>
                <a:cs typeface="Poppins Medium" panose="00000600000000000000" pitchFamily="2" charset="0"/>
              </a:rPr>
              <a:t>Sustainability of Solution</a:t>
            </a:r>
          </a:p>
        </p:txBody>
      </p:sp>
      <p:sp>
        <p:nvSpPr>
          <p:cNvPr id="9" name="TextBox 24">
            <a:extLst>
              <a:ext uri="{FF2B5EF4-FFF2-40B4-BE49-F238E27FC236}">
                <a16:creationId xmlns:a16="http://schemas.microsoft.com/office/drawing/2014/main" id="{0CBE146B-65BC-CB2F-8EDB-51AEEEF2134A}"/>
              </a:ext>
            </a:extLst>
          </p:cNvPr>
          <p:cNvSpPr txBox="1"/>
          <p:nvPr/>
        </p:nvSpPr>
        <p:spPr>
          <a:xfrm>
            <a:off x="764686" y="4477662"/>
            <a:ext cx="11353799" cy="664284"/>
          </a:xfrm>
          <a:prstGeom prst="rect">
            <a:avLst/>
          </a:prstGeom>
        </p:spPr>
        <p:txBody>
          <a:bodyPr wrap="square" lIns="0" tIns="0" rIns="0" bIns="0" rtlCol="0" anchor="t">
            <a:spAutoFit/>
          </a:bodyPr>
          <a:lstStyle/>
          <a:p>
            <a:pPr algn="l">
              <a:lnSpc>
                <a:spcPts val="5567"/>
              </a:lnSpc>
            </a:pPr>
            <a:r>
              <a:rPr lang="en-US" sz="28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Market Size (Sri Lanka)</a:t>
            </a:r>
          </a:p>
        </p:txBody>
      </p:sp>
      <p:sp>
        <p:nvSpPr>
          <p:cNvPr id="16" name="TextBox 24">
            <a:extLst>
              <a:ext uri="{FF2B5EF4-FFF2-40B4-BE49-F238E27FC236}">
                <a16:creationId xmlns:a16="http://schemas.microsoft.com/office/drawing/2014/main" id="{228325A1-E4CB-489D-D30E-AEB60864A279}"/>
              </a:ext>
            </a:extLst>
          </p:cNvPr>
          <p:cNvSpPr txBox="1"/>
          <p:nvPr/>
        </p:nvSpPr>
        <p:spPr>
          <a:xfrm>
            <a:off x="768426" y="2080168"/>
            <a:ext cx="6013164" cy="664284"/>
          </a:xfrm>
          <a:prstGeom prst="rect">
            <a:avLst/>
          </a:prstGeom>
        </p:spPr>
        <p:txBody>
          <a:bodyPr wrap="square" lIns="0" tIns="0" rIns="0" bIns="0" rtlCol="0" anchor="t">
            <a:spAutoFit/>
          </a:bodyPr>
          <a:lstStyle/>
          <a:p>
            <a:pPr algn="l">
              <a:lnSpc>
                <a:spcPts val="5567"/>
              </a:lnSpc>
            </a:pPr>
            <a:r>
              <a:rPr lang="en-US" sz="2800" b="1" spc="-67" dirty="0">
                <a:solidFill>
                  <a:srgbClr val="85C9B4"/>
                </a:solidFill>
                <a:latin typeface="Poppins Semi-Bold"/>
                <a:ea typeface="Poppins Semi-Bold"/>
                <a:cs typeface="Poppins Semi-Bold"/>
                <a:sym typeface="Poppins Semi-Bold"/>
              </a:rPr>
              <a:t>Customer Persona</a:t>
            </a:r>
          </a:p>
        </p:txBody>
      </p:sp>
      <p:sp>
        <p:nvSpPr>
          <p:cNvPr id="21" name="TextBox 20">
            <a:extLst>
              <a:ext uri="{FF2B5EF4-FFF2-40B4-BE49-F238E27FC236}">
                <a16:creationId xmlns:a16="http://schemas.microsoft.com/office/drawing/2014/main" id="{1A99F196-EEA8-7D72-1DBA-DD7591F06DA6}"/>
              </a:ext>
            </a:extLst>
          </p:cNvPr>
          <p:cNvSpPr txBox="1"/>
          <p:nvPr/>
        </p:nvSpPr>
        <p:spPr>
          <a:xfrm>
            <a:off x="671052" y="5338155"/>
            <a:ext cx="16108881" cy="1200329"/>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200" dirty="0"/>
              <a:t>~5 - 7 million potential users (urban &amp; semi-urban adults)</a:t>
            </a:r>
            <a:r>
              <a:rPr lang="en-US" sz="3000" dirty="0"/>
              <a:t>  </a:t>
            </a:r>
          </a:p>
          <a:p>
            <a:pPr marL="457200" indent="-457200">
              <a:lnSpc>
                <a:spcPct val="120000"/>
              </a:lnSpc>
              <a:buFont typeface="Arial" panose="020B0604020202020204" pitchFamily="34" charset="0"/>
              <a:buChar char="•"/>
            </a:pPr>
            <a:r>
              <a:rPr lang="en-US" sz="3000" dirty="0"/>
              <a:t>Growing adoption of smartphones &amp; wearable health devices</a:t>
            </a:r>
          </a:p>
        </p:txBody>
      </p:sp>
      <p:sp>
        <p:nvSpPr>
          <p:cNvPr id="24" name="TextBox 24">
            <a:extLst>
              <a:ext uri="{FF2B5EF4-FFF2-40B4-BE49-F238E27FC236}">
                <a16:creationId xmlns:a16="http://schemas.microsoft.com/office/drawing/2014/main" id="{1E151EA7-4BBF-4719-634C-F6D60891290B}"/>
              </a:ext>
            </a:extLst>
          </p:cNvPr>
          <p:cNvSpPr txBox="1"/>
          <p:nvPr/>
        </p:nvSpPr>
        <p:spPr>
          <a:xfrm>
            <a:off x="8925459" y="6835533"/>
            <a:ext cx="4438478" cy="664284"/>
          </a:xfrm>
          <a:prstGeom prst="rect">
            <a:avLst/>
          </a:prstGeom>
        </p:spPr>
        <p:txBody>
          <a:bodyPr wrap="square" lIns="0" tIns="0" rIns="0" bIns="0" rtlCol="0" anchor="t">
            <a:spAutoFit/>
          </a:bodyPr>
          <a:lstStyle/>
          <a:p>
            <a:pPr algn="l">
              <a:lnSpc>
                <a:spcPts val="5567"/>
              </a:lnSpc>
            </a:pPr>
            <a:r>
              <a:rPr lang="en-US" sz="28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What is Unique?</a:t>
            </a:r>
          </a:p>
        </p:txBody>
      </p:sp>
      <p:sp>
        <p:nvSpPr>
          <p:cNvPr id="25" name="TextBox 24">
            <a:extLst>
              <a:ext uri="{FF2B5EF4-FFF2-40B4-BE49-F238E27FC236}">
                <a16:creationId xmlns:a16="http://schemas.microsoft.com/office/drawing/2014/main" id="{A7D0D055-83BA-6B6F-4CBE-B0CA49502DA9}"/>
              </a:ext>
            </a:extLst>
          </p:cNvPr>
          <p:cNvSpPr txBox="1"/>
          <p:nvPr/>
        </p:nvSpPr>
        <p:spPr>
          <a:xfrm>
            <a:off x="8915400" y="7649466"/>
            <a:ext cx="8769158" cy="2271391"/>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000" dirty="0"/>
              <a:t>AI-driven personalized health insights &amp; alerts</a:t>
            </a:r>
          </a:p>
          <a:p>
            <a:pPr marL="457200" indent="-457200">
              <a:lnSpc>
                <a:spcPct val="120000"/>
              </a:lnSpc>
              <a:buFont typeface="Arial" panose="020B0604020202020204" pitchFamily="34" charset="0"/>
              <a:buChar char="•"/>
            </a:pPr>
            <a:r>
              <a:rPr lang="en-US" sz="3000" dirty="0"/>
              <a:t>Localized for Sri Lankan diet &amp; lifestyle patterns</a:t>
            </a:r>
          </a:p>
          <a:p>
            <a:pPr marL="457200" indent="-457200">
              <a:lnSpc>
                <a:spcPct val="120000"/>
              </a:lnSpc>
              <a:buFont typeface="Arial" panose="020B0604020202020204" pitchFamily="34" charset="0"/>
              <a:buChar char="•"/>
            </a:pPr>
            <a:r>
              <a:rPr lang="en-US" sz="3000" dirty="0"/>
              <a:t>Preventive approach targeting early hypertension &amp; diabetes</a:t>
            </a:r>
          </a:p>
        </p:txBody>
      </p:sp>
      <p:sp>
        <p:nvSpPr>
          <p:cNvPr id="26" name="TextBox 24">
            <a:extLst>
              <a:ext uri="{FF2B5EF4-FFF2-40B4-BE49-F238E27FC236}">
                <a16:creationId xmlns:a16="http://schemas.microsoft.com/office/drawing/2014/main" id="{2147D5D9-415F-E4AE-E37D-B1D659979283}"/>
              </a:ext>
            </a:extLst>
          </p:cNvPr>
          <p:cNvSpPr txBox="1"/>
          <p:nvPr/>
        </p:nvSpPr>
        <p:spPr>
          <a:xfrm>
            <a:off x="764686" y="6795896"/>
            <a:ext cx="4438478" cy="664284"/>
          </a:xfrm>
          <a:prstGeom prst="rect">
            <a:avLst/>
          </a:prstGeom>
        </p:spPr>
        <p:txBody>
          <a:bodyPr wrap="square" lIns="0" tIns="0" rIns="0" bIns="0" rtlCol="0" anchor="t">
            <a:spAutoFit/>
          </a:bodyPr>
          <a:lstStyle/>
          <a:p>
            <a:pPr algn="l">
              <a:lnSpc>
                <a:spcPts val="5567"/>
              </a:lnSpc>
            </a:pPr>
            <a:r>
              <a:rPr lang="en-US" sz="2800" b="1" spc="-67" dirty="0">
                <a:solidFill>
                  <a:srgbClr val="85C9B4"/>
                </a:solidFill>
                <a:latin typeface="Poppins Medium" panose="00000600000000000000" pitchFamily="2" charset="0"/>
                <a:ea typeface="Poppins Semi-Bold"/>
                <a:cs typeface="Poppins Medium" panose="00000600000000000000" pitchFamily="2" charset="0"/>
                <a:sym typeface="Poppins Semi-Bold"/>
              </a:rPr>
              <a:t>Cost Recovery</a:t>
            </a:r>
          </a:p>
        </p:txBody>
      </p:sp>
      <p:sp>
        <p:nvSpPr>
          <p:cNvPr id="32" name="TextBox 31">
            <a:extLst>
              <a:ext uri="{FF2B5EF4-FFF2-40B4-BE49-F238E27FC236}">
                <a16:creationId xmlns:a16="http://schemas.microsoft.com/office/drawing/2014/main" id="{DEF14814-D017-50D4-AAB2-26DA87A24EA4}"/>
              </a:ext>
            </a:extLst>
          </p:cNvPr>
          <p:cNvSpPr txBox="1"/>
          <p:nvPr/>
        </p:nvSpPr>
        <p:spPr>
          <a:xfrm>
            <a:off x="685800" y="7664285"/>
            <a:ext cx="8077200" cy="1754326"/>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3000" dirty="0"/>
              <a:t>Freemium + Premium subscription model</a:t>
            </a:r>
          </a:p>
          <a:p>
            <a:pPr marL="457200" indent="-457200">
              <a:lnSpc>
                <a:spcPct val="120000"/>
              </a:lnSpc>
              <a:buFont typeface="Arial" panose="020B0604020202020204" pitchFamily="34" charset="0"/>
              <a:buChar char="•"/>
            </a:pPr>
            <a:r>
              <a:rPr lang="en-US" sz="3000" dirty="0"/>
              <a:t>B2B corporate wellness partnerships</a:t>
            </a:r>
          </a:p>
          <a:p>
            <a:pPr marL="457200" indent="-457200">
              <a:lnSpc>
                <a:spcPct val="120000"/>
              </a:lnSpc>
              <a:buFont typeface="Arial" panose="020B0604020202020204" pitchFamily="34" charset="0"/>
              <a:buChar char="•"/>
            </a:pPr>
            <a:r>
              <a:rPr lang="en-US" sz="3000" dirty="0"/>
              <a:t>Collaboration with local health insurers &amp; clinics</a:t>
            </a:r>
          </a:p>
        </p:txBody>
      </p:sp>
      <p:sp>
        <p:nvSpPr>
          <p:cNvPr id="39" name="TextBox 38">
            <a:extLst>
              <a:ext uri="{FF2B5EF4-FFF2-40B4-BE49-F238E27FC236}">
                <a16:creationId xmlns:a16="http://schemas.microsoft.com/office/drawing/2014/main" id="{4EBF1A22-A7D6-763E-32A9-C9139FD049B4}"/>
              </a:ext>
            </a:extLst>
          </p:cNvPr>
          <p:cNvSpPr txBox="1"/>
          <p:nvPr/>
        </p:nvSpPr>
        <p:spPr>
          <a:xfrm>
            <a:off x="1041467" y="3061243"/>
            <a:ext cx="15738465" cy="1163395"/>
          </a:xfrm>
          <a:prstGeom prst="rect">
            <a:avLst/>
          </a:prstGeom>
          <a:noFill/>
        </p:spPr>
        <p:txBody>
          <a:bodyPr wrap="square">
            <a:spAutoFit/>
          </a:bodyPr>
          <a:lstStyle/>
          <a:p>
            <a:pPr>
              <a:lnSpc>
                <a:spcPct val="120000"/>
              </a:lnSpc>
            </a:pPr>
            <a:r>
              <a:rPr lang="en-US" sz="3000" dirty="0"/>
              <a:t>Young Professionals (25 - 40 yrs): Health-conscious, tech-savvy, use health apps.</a:t>
            </a:r>
          </a:p>
          <a:p>
            <a:pPr>
              <a:lnSpc>
                <a:spcPct val="120000"/>
              </a:lnSpc>
            </a:pPr>
            <a:r>
              <a:rPr lang="en-US" sz="3000" dirty="0"/>
              <a:t>Middle-Aged Adults (40 - 60 yrs): At risk of hypertension/diabetes, seeking prevention</a:t>
            </a:r>
          </a:p>
        </p:txBody>
      </p:sp>
    </p:spTree>
    <p:extLst>
      <p:ext uri="{BB962C8B-B14F-4D97-AF65-F5344CB8AC3E}">
        <p14:creationId xmlns:p14="http://schemas.microsoft.com/office/powerpoint/2010/main" val="394012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2580</TotalTime>
  <Words>1354</Words>
  <Application>Microsoft Office PowerPoint</Application>
  <PresentationFormat>Custom</PresentationFormat>
  <Paragraphs>185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Poppins Light</vt:lpstr>
      <vt:lpstr>Poppins Medium</vt:lpstr>
      <vt:lpstr>Poppins</vt:lpstr>
      <vt:lpstr>Arial</vt:lpstr>
      <vt:lpstr>Calibri</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Green Minimalist Medical Presentation</dc:title>
  <dc:creator>User</dc:creator>
  <cp:lastModifiedBy>RAVINDU S.L it22587756</cp:lastModifiedBy>
  <cp:revision>42</cp:revision>
  <dcterms:created xsi:type="dcterms:W3CDTF">2006-08-16T00:00:00Z</dcterms:created>
  <dcterms:modified xsi:type="dcterms:W3CDTF">2026-03-06T06:03:05Z</dcterms:modified>
  <dc:identifier>DAG8mWpbG-o</dc:identifier>
</cp:coreProperties>
</file>